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1"/>
  </p:notesMasterIdLst>
  <p:sldIdLst>
    <p:sldId id="257" r:id="rId2"/>
    <p:sldId id="258" r:id="rId3"/>
    <p:sldId id="269" r:id="rId4"/>
    <p:sldId id="259" r:id="rId5"/>
    <p:sldId id="263" r:id="rId6"/>
    <p:sldId id="278" r:id="rId7"/>
    <p:sldId id="275" r:id="rId8"/>
    <p:sldId id="276" r:id="rId9"/>
    <p:sldId id="277" r:id="rId10"/>
    <p:sldId id="261" r:id="rId11"/>
    <p:sldId id="281" r:id="rId12"/>
    <p:sldId id="282" r:id="rId13"/>
    <p:sldId id="267" r:id="rId14"/>
    <p:sldId id="270" r:id="rId15"/>
    <p:sldId id="273" r:id="rId16"/>
    <p:sldId id="272" r:id="rId17"/>
    <p:sldId id="274" r:id="rId18"/>
    <p:sldId id="265" r:id="rId19"/>
    <p:sldId id="26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72" autoAdjust="0"/>
    <p:restoredTop sz="88848" autoAdjust="0"/>
  </p:normalViewPr>
  <p:slideViewPr>
    <p:cSldViewPr>
      <p:cViewPr>
        <p:scale>
          <a:sx n="90" d="100"/>
          <a:sy n="90" d="100"/>
        </p:scale>
        <p:origin x="-1450" y="-30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6DFBE0-9072-4D8A-A3AD-7351530CCE77}" type="datetimeFigureOut">
              <a:rPr lang="en-IN" smtClean="0"/>
              <a:pPr/>
              <a:t>30-11-2023</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C606DF-7911-432E-A61D-00DB6799B7FE}" type="slidenum">
              <a:rPr lang="en-IN" smtClean="0"/>
              <a:pPr/>
              <a:t>‹#›</a:t>
            </a:fld>
            <a:endParaRPr lang="en-IN"/>
          </a:p>
        </p:txBody>
      </p:sp>
    </p:spTree>
    <p:extLst>
      <p:ext uri="{BB962C8B-B14F-4D97-AF65-F5344CB8AC3E}">
        <p14:creationId xmlns:p14="http://schemas.microsoft.com/office/powerpoint/2010/main" xmlns="" val="1993806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2C606DF-7911-432E-A61D-00DB6799B7FE}" type="slidenum">
              <a:rPr lang="en-IN" smtClean="0"/>
              <a:pPr/>
              <a:t>2</a:t>
            </a:fld>
            <a:endParaRPr lang="en-IN"/>
          </a:p>
        </p:txBody>
      </p:sp>
    </p:spTree>
    <p:extLst>
      <p:ext uri="{BB962C8B-B14F-4D97-AF65-F5344CB8AC3E}">
        <p14:creationId xmlns:p14="http://schemas.microsoft.com/office/powerpoint/2010/main" xmlns="" val="1071490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2C606DF-7911-432E-A61D-00DB6799B7FE}" type="slidenum">
              <a:rPr lang="en-IN" smtClean="0"/>
              <a:pPr/>
              <a:t>5</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2C606DF-7911-432E-A61D-00DB6799B7FE}" type="slidenum">
              <a:rPr lang="en-IN" smtClean="0"/>
              <a:pPr/>
              <a:t>15</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p14="http://schemas.microsoft.com/office/powerpoint/2010/main" xmlns="" val="3367930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p14="http://schemas.microsoft.com/office/powerpoint/2010/main" xmlns="" val="3488195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p14="http://schemas.microsoft.com/office/powerpoint/2010/main" xmlns="" val="702727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p14="http://schemas.microsoft.com/office/powerpoint/2010/main" xmlns="" val="433276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p14="http://schemas.microsoft.com/office/powerpoint/2010/main" xmlns="" val="3662566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p14="http://schemas.microsoft.com/office/powerpoint/2010/main" xmlns="" val="2238558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p14="http://schemas.microsoft.com/office/powerpoint/2010/main" xmlns="" val="923426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p14="http://schemas.microsoft.com/office/powerpoint/2010/main" xmlns="" val="1517168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p14="http://schemas.microsoft.com/office/powerpoint/2010/main" xmlns="" val="1888493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p14="http://schemas.microsoft.com/office/powerpoint/2010/main" xmlns="" val="3429590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3A6BB4-39F4-4292-8293-6CC04664DC04}" type="datetimeFigureOut">
              <a:rPr lang="en-US" smtClean="0"/>
              <a:pPr/>
              <a:t>11/30/2023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54E243-288C-419F-B209-699AD149C937}" type="slidenum">
              <a:rPr lang="en-IN" smtClean="0"/>
              <a:pPr/>
              <a:t>‹#›</a:t>
            </a:fld>
            <a:endParaRPr lang="en-IN"/>
          </a:p>
        </p:txBody>
      </p:sp>
    </p:spTree>
    <p:extLst>
      <p:ext uri="{BB962C8B-B14F-4D97-AF65-F5344CB8AC3E}">
        <p14:creationId xmlns:p14="http://schemas.microsoft.com/office/powerpoint/2010/main" xmlns="" val="1405467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93A6BB4-39F4-4292-8293-6CC04664DC04}" type="datetimeFigureOut">
              <a:rPr lang="en-US" smtClean="0"/>
              <a:pPr/>
              <a:t>11/30/2023</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454E243-288C-419F-B209-699AD149C937}" type="slidenum">
              <a:rPr lang="en-IN" smtClean="0"/>
              <a:pPr/>
              <a:t>‹#›</a:t>
            </a:fld>
            <a:endParaRPr lang="en-IN"/>
          </a:p>
        </p:txBody>
      </p:sp>
    </p:spTree>
    <p:extLst>
      <p:ext uri="{BB962C8B-B14F-4D97-AF65-F5344CB8AC3E}">
        <p14:creationId xmlns:p14="http://schemas.microsoft.com/office/powerpoint/2010/main" xmlns="" val="159260545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ieeexplore.ieee.org/document/9763893" TargetMode="External"/><Relationship Id="rId3" Type="http://schemas.openxmlformats.org/officeDocument/2006/relationships/hyperlink" Target="https://www.freepik.com/free-photos-vectors/game-background" TargetMode="External"/><Relationship Id="rId7" Type="http://schemas.openxmlformats.org/officeDocument/2006/relationships/hyperlink" Target="https://ieeexplore.ieee.org/document/8924807" TargetMode="External"/><Relationship Id="rId2" Type="http://schemas.openxmlformats.org/officeDocument/2006/relationships/hyperlink" Target="https://pngtree.com/so/1-to-10" TargetMode="External"/><Relationship Id="rId1" Type="http://schemas.openxmlformats.org/officeDocument/2006/relationships/slideLayout" Target="../slideLayouts/slideLayout2.xml"/><Relationship Id="rId6" Type="http://schemas.openxmlformats.org/officeDocument/2006/relationships/hyperlink" Target="https://www.pngwing.com/en/search?q=birds" TargetMode="External"/><Relationship Id="rId5" Type="http://schemas.openxmlformats.org/officeDocument/2006/relationships/hyperlink" Target="https://studio.youtube.com/channel/UC-PYa26rN_bbQZgNRmIYqTQ/music" TargetMode="External"/><Relationship Id="rId4" Type="http://schemas.openxmlformats.org/officeDocument/2006/relationships/hyperlink" Target="https://www.zapsplat.com/sound-effect-category/game-sound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14282" y="285728"/>
            <a:ext cx="8929718" cy="990600"/>
          </a:xfrm>
        </p:spPr>
        <p:txBody>
          <a:bodyPr>
            <a:normAutofit fontScale="90000"/>
          </a:bodyPr>
          <a:lstStyle/>
          <a:p>
            <a:pPr algn="ctr" eaLnBrk="1" hangingPunct="1">
              <a:lnSpc>
                <a:spcPct val="80000"/>
              </a:lnSpc>
            </a:pPr>
            <a:r>
              <a:rPr lang="en-US" sz="2400" b="1" dirty="0"/>
              <a:t> </a:t>
            </a:r>
            <a:br>
              <a:rPr lang="en-US" sz="2400" b="1" dirty="0"/>
            </a:br>
            <a:r>
              <a:rPr lang="en-US" sz="2400" b="1" dirty="0"/>
              <a:t/>
            </a:r>
            <a:br>
              <a:rPr lang="en-US" sz="2400" b="1" dirty="0"/>
            </a:br>
            <a:r>
              <a:rPr lang="en-US" sz="3100" b="1" dirty="0"/>
              <a:t>ORIENTAL COLLEGE OF TECHNOLOGY</a:t>
            </a:r>
            <a:br>
              <a:rPr lang="en-US" sz="3100" b="1" dirty="0"/>
            </a:br>
            <a:r>
              <a:rPr lang="en-US" sz="3100" b="1" dirty="0"/>
              <a:t>BHOPAL (M.P.)</a:t>
            </a:r>
            <a:br>
              <a:rPr lang="en-US" sz="3100" b="1" dirty="0"/>
            </a:br>
            <a:endParaRPr lang="en-US" sz="2400" b="1" dirty="0">
              <a:solidFill>
                <a:srgbClr val="FF0066"/>
              </a:solidFill>
            </a:endParaRPr>
          </a:p>
        </p:txBody>
      </p:sp>
      <p:sp>
        <p:nvSpPr>
          <p:cNvPr id="2051" name="Rectangle 3"/>
          <p:cNvSpPr>
            <a:spLocks noGrp="1" noChangeArrowheads="1"/>
          </p:cNvSpPr>
          <p:nvPr>
            <p:ph type="subTitle" idx="1"/>
          </p:nvPr>
        </p:nvSpPr>
        <p:spPr>
          <a:xfrm>
            <a:off x="500034" y="1219200"/>
            <a:ext cx="8429684" cy="5334000"/>
          </a:xfrm>
        </p:spPr>
        <p:txBody>
          <a:bodyPr>
            <a:normAutofit fontScale="92500" lnSpcReduction="10000"/>
          </a:bodyPr>
          <a:lstStyle/>
          <a:p>
            <a:pPr eaLnBrk="1" hangingPunct="1">
              <a:lnSpc>
                <a:spcPct val="80000"/>
              </a:lnSpc>
            </a:pPr>
            <a:endParaRPr lang="en-US" sz="2000" dirty="0"/>
          </a:p>
          <a:p>
            <a:pPr eaLnBrk="1" hangingPunct="1">
              <a:lnSpc>
                <a:spcPct val="80000"/>
              </a:lnSpc>
            </a:pPr>
            <a:endParaRPr lang="en-US" sz="2000" dirty="0"/>
          </a:p>
          <a:p>
            <a:pPr eaLnBrk="1" hangingPunct="1">
              <a:lnSpc>
                <a:spcPct val="80000"/>
              </a:lnSpc>
            </a:pPr>
            <a:endParaRPr lang="en-US" sz="2000" dirty="0"/>
          </a:p>
          <a:p>
            <a:pPr eaLnBrk="1" hangingPunct="1">
              <a:lnSpc>
                <a:spcPct val="80000"/>
              </a:lnSpc>
            </a:pPr>
            <a:endParaRPr lang="en-US" sz="2000" b="1" dirty="0"/>
          </a:p>
          <a:p>
            <a:pPr eaLnBrk="1" hangingPunct="1">
              <a:lnSpc>
                <a:spcPct val="80000"/>
              </a:lnSpc>
            </a:pPr>
            <a:endParaRPr lang="en-US" sz="2000" b="1" dirty="0"/>
          </a:p>
          <a:p>
            <a:pPr eaLnBrk="1" hangingPunct="1">
              <a:lnSpc>
                <a:spcPct val="80000"/>
              </a:lnSpc>
            </a:pPr>
            <a:r>
              <a:rPr lang="en-US" sz="2000" b="1" dirty="0"/>
              <a:t>“</a:t>
            </a:r>
            <a:r>
              <a:rPr lang="en-US" sz="2800" b="1" dirty="0"/>
              <a:t>Information Technology</a:t>
            </a:r>
            <a:r>
              <a:rPr lang="en-US" sz="2000" b="1" dirty="0"/>
              <a:t>”</a:t>
            </a:r>
          </a:p>
          <a:p>
            <a:pPr eaLnBrk="1" hangingPunct="1">
              <a:lnSpc>
                <a:spcPct val="80000"/>
              </a:lnSpc>
            </a:pPr>
            <a:endParaRPr lang="en-US" sz="900" dirty="0"/>
          </a:p>
          <a:p>
            <a:pPr eaLnBrk="1" hangingPunct="1">
              <a:lnSpc>
                <a:spcPct val="80000"/>
              </a:lnSpc>
            </a:pPr>
            <a:endParaRPr lang="en-US" sz="2000" dirty="0"/>
          </a:p>
          <a:p>
            <a:pPr eaLnBrk="1" hangingPunct="1">
              <a:lnSpc>
                <a:spcPct val="80000"/>
              </a:lnSpc>
            </a:pPr>
            <a:r>
              <a:rPr lang="en-US" sz="2000" dirty="0"/>
              <a:t>Minor Project Progress Presentation I</a:t>
            </a:r>
          </a:p>
          <a:p>
            <a:pPr eaLnBrk="1" hangingPunct="1">
              <a:lnSpc>
                <a:spcPct val="80000"/>
              </a:lnSpc>
            </a:pPr>
            <a:r>
              <a:rPr lang="en-US" sz="2000" dirty="0"/>
              <a:t>On</a:t>
            </a:r>
            <a:endParaRPr lang="en-US" sz="2000" b="1" dirty="0">
              <a:solidFill>
                <a:srgbClr val="FF0066"/>
              </a:solidFill>
            </a:endParaRPr>
          </a:p>
          <a:p>
            <a:pPr eaLnBrk="1" hangingPunct="1">
              <a:lnSpc>
                <a:spcPct val="80000"/>
              </a:lnSpc>
            </a:pPr>
            <a:r>
              <a:rPr lang="en-US" sz="2000" b="1" dirty="0">
                <a:solidFill>
                  <a:srgbClr val="FF0066"/>
                </a:solidFill>
              </a:rPr>
              <a:t>“FLAPPY BIRD”</a:t>
            </a:r>
          </a:p>
          <a:p>
            <a:pPr eaLnBrk="1" hangingPunct="1">
              <a:lnSpc>
                <a:spcPct val="80000"/>
              </a:lnSpc>
            </a:pPr>
            <a:r>
              <a:rPr lang="en-US" sz="2000" b="1" dirty="0">
                <a:solidFill>
                  <a:srgbClr val="FF0066"/>
                </a:solidFill>
              </a:rPr>
              <a:t>29</a:t>
            </a:r>
            <a:r>
              <a:rPr lang="en-US" sz="2000" b="1" baseline="30000" dirty="0">
                <a:solidFill>
                  <a:srgbClr val="FF0066"/>
                </a:solidFill>
              </a:rPr>
              <a:t>th</a:t>
            </a:r>
            <a:r>
              <a:rPr lang="en-US" sz="2000" b="1" dirty="0">
                <a:solidFill>
                  <a:srgbClr val="FF0066"/>
                </a:solidFill>
              </a:rPr>
              <a:t> Nov 2023</a:t>
            </a:r>
          </a:p>
          <a:p>
            <a:pPr eaLnBrk="1" hangingPunct="1">
              <a:lnSpc>
                <a:spcPct val="80000"/>
              </a:lnSpc>
            </a:pPr>
            <a:endParaRPr lang="en-US" sz="2000" b="1" dirty="0">
              <a:solidFill>
                <a:srgbClr val="FF0066"/>
              </a:solidFill>
            </a:endParaRPr>
          </a:p>
          <a:p>
            <a:pPr algn="l" eaLnBrk="1" hangingPunct="1">
              <a:lnSpc>
                <a:spcPct val="80000"/>
              </a:lnSpc>
            </a:pPr>
            <a:endParaRPr lang="en-US" sz="2000" dirty="0">
              <a:solidFill>
                <a:schemeClr val="accent2"/>
              </a:solidFill>
            </a:endParaRPr>
          </a:p>
          <a:p>
            <a:pPr algn="l">
              <a:lnSpc>
                <a:spcPct val="80000"/>
              </a:lnSpc>
            </a:pPr>
            <a:r>
              <a:rPr lang="en-US" sz="1800" b="1" dirty="0">
                <a:solidFill>
                  <a:schemeClr val="tx1"/>
                </a:solidFill>
              </a:rPr>
              <a:t>Guided by					</a:t>
            </a:r>
            <a:r>
              <a:rPr lang="en-US" sz="1800" b="1" dirty="0" smtClean="0">
                <a:solidFill>
                  <a:schemeClr val="tx1"/>
                </a:solidFill>
              </a:rPr>
              <a:t>     </a:t>
            </a:r>
            <a:r>
              <a:rPr lang="en-US" sz="1800" dirty="0" smtClean="0">
                <a:solidFill>
                  <a:schemeClr val="tx1">
                    <a:lumMod val="95000"/>
                    <a:lumOff val="5000"/>
                  </a:schemeClr>
                </a:solidFill>
              </a:rPr>
              <a:t>Presented </a:t>
            </a:r>
            <a:r>
              <a:rPr lang="en-US" sz="1800" dirty="0">
                <a:solidFill>
                  <a:schemeClr val="tx1">
                    <a:lumMod val="95000"/>
                    <a:lumOff val="5000"/>
                  </a:schemeClr>
                </a:solidFill>
              </a:rPr>
              <a:t>by:</a:t>
            </a:r>
          </a:p>
          <a:p>
            <a:pPr algn="l">
              <a:lnSpc>
                <a:spcPct val="80000"/>
              </a:lnSpc>
            </a:pPr>
            <a:r>
              <a:rPr lang="en-US" sz="1800" b="1" dirty="0">
                <a:solidFill>
                  <a:schemeClr val="tx1"/>
                </a:solidFill>
              </a:rPr>
              <a:t>Prof. Iqbal					</a:t>
            </a:r>
            <a:endParaRPr lang="en-US" sz="1800" dirty="0">
              <a:solidFill>
                <a:schemeClr val="tx1">
                  <a:lumMod val="95000"/>
                  <a:lumOff val="5000"/>
                </a:schemeClr>
              </a:solidFill>
            </a:endParaRPr>
          </a:p>
          <a:p>
            <a:pPr algn="l">
              <a:lnSpc>
                <a:spcPct val="80000"/>
              </a:lnSpc>
            </a:pPr>
            <a:r>
              <a:rPr lang="en-US" sz="1800" b="1" dirty="0">
                <a:solidFill>
                  <a:schemeClr val="tx1"/>
                </a:solidFill>
              </a:rPr>
              <a:t>							</a:t>
            </a:r>
            <a:endParaRPr lang="en-US" sz="1800" dirty="0">
              <a:solidFill>
                <a:schemeClr val="tx1">
                  <a:lumMod val="95000"/>
                  <a:lumOff val="5000"/>
                </a:schemeClr>
              </a:solidFill>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067944" y="1340768"/>
            <a:ext cx="1181641" cy="11868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Rectangle: Rounded Corners 1">
            <a:extLst>
              <a:ext uri="{FF2B5EF4-FFF2-40B4-BE49-F238E27FC236}">
                <a16:creationId xmlns:a16="http://schemas.microsoft.com/office/drawing/2014/main" xmlns="" id="{2A40E20C-A42C-AAE0-BB01-C87CC5A3E682}"/>
              </a:ext>
            </a:extLst>
          </p:cNvPr>
          <p:cNvSpPr/>
          <p:nvPr/>
        </p:nvSpPr>
        <p:spPr>
          <a:xfrm>
            <a:off x="6083152" y="4941168"/>
            <a:ext cx="3060848" cy="1296144"/>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IN" sz="1400" b="1" dirty="0" err="1"/>
              <a:t>Vivek</a:t>
            </a:r>
            <a:r>
              <a:rPr lang="en-IN" sz="1400" b="1" dirty="0"/>
              <a:t> </a:t>
            </a:r>
            <a:r>
              <a:rPr lang="en-IN" sz="1400" b="1" dirty="0" err="1" smtClean="0"/>
              <a:t>Waryani</a:t>
            </a:r>
            <a:r>
              <a:rPr lang="en-IN" sz="1400" b="1" dirty="0" smtClean="0"/>
              <a:t> (0126IT211125)</a:t>
            </a:r>
            <a:endParaRPr lang="en-IN" sz="1400" b="1" dirty="0"/>
          </a:p>
          <a:p>
            <a:pPr algn="ctr"/>
            <a:r>
              <a:rPr lang="en-IN" sz="1400" b="1" dirty="0" err="1"/>
              <a:t>Sakshi</a:t>
            </a:r>
            <a:r>
              <a:rPr lang="en-IN" sz="1400" b="1" dirty="0"/>
              <a:t> </a:t>
            </a:r>
            <a:r>
              <a:rPr lang="en-IN" sz="1400" b="1" dirty="0" err="1" smtClean="0"/>
              <a:t>Rajput</a:t>
            </a:r>
            <a:r>
              <a:rPr lang="en-IN" sz="1400" b="1" dirty="0" smtClean="0"/>
              <a:t> (0126IT211094)</a:t>
            </a:r>
            <a:endParaRPr lang="en-IN" sz="1400" b="1" dirty="0"/>
          </a:p>
          <a:p>
            <a:pPr algn="ctr"/>
            <a:r>
              <a:rPr lang="en-IN" sz="1400" b="1" dirty="0" err="1"/>
              <a:t>Divyansh</a:t>
            </a:r>
            <a:r>
              <a:rPr lang="en-IN" sz="1400" b="1" dirty="0"/>
              <a:t> </a:t>
            </a:r>
            <a:r>
              <a:rPr lang="en-IN" sz="1400" b="1" dirty="0" err="1" smtClean="0"/>
              <a:t>Choudhary</a:t>
            </a:r>
            <a:r>
              <a:rPr lang="en-IN" sz="1400" b="1" dirty="0" smtClean="0"/>
              <a:t> (0126IT223D01)</a:t>
            </a:r>
            <a:endParaRPr lang="en-IN" sz="1400" b="1" dirty="0"/>
          </a:p>
          <a:p>
            <a:pPr algn="ctr"/>
            <a:r>
              <a:rPr lang="en-IN" sz="1400" b="1" dirty="0" err="1"/>
              <a:t>Shilpa</a:t>
            </a:r>
            <a:r>
              <a:rPr lang="en-IN" sz="1400" b="1" dirty="0"/>
              <a:t> </a:t>
            </a:r>
            <a:r>
              <a:rPr lang="en-IN" sz="1400" b="1" dirty="0" err="1" smtClean="0"/>
              <a:t>Shakya</a:t>
            </a:r>
            <a:r>
              <a:rPr lang="en-IN" sz="1400" b="1" dirty="0" smtClean="0"/>
              <a:t> (0126IT211104)</a:t>
            </a:r>
            <a:endParaRPr lang="en-IN" sz="1400" b="1" dirty="0"/>
          </a:p>
          <a:p>
            <a:pPr algn="ctr"/>
            <a:r>
              <a:rPr lang="en-IN" sz="1400" b="1" dirty="0" err="1"/>
              <a:t>Rahul</a:t>
            </a:r>
            <a:r>
              <a:rPr lang="en-IN" sz="1400" b="1" dirty="0"/>
              <a:t> </a:t>
            </a:r>
            <a:r>
              <a:rPr lang="en-IN" sz="1400" b="1" dirty="0" err="1" smtClean="0"/>
              <a:t>Acharya</a:t>
            </a:r>
            <a:r>
              <a:rPr lang="en-IN" sz="1400" b="1" dirty="0" smtClean="0"/>
              <a:t> ()0126IT211076)</a:t>
            </a:r>
            <a:endParaRPr lang="en-IN" sz="1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274638"/>
            <a:ext cx="8229600" cy="868362"/>
          </a:xfrm>
        </p:spPr>
        <p:txBody>
          <a:bodyPr/>
          <a:lstStyle/>
          <a:p>
            <a:pPr eaLnBrk="1" hangingPunct="1"/>
            <a:r>
              <a:rPr lang="en-US" dirty="0">
                <a:solidFill>
                  <a:srgbClr val="FF0066"/>
                </a:solidFill>
                <a:latin typeface="Times New Roman" pitchFamily="18" charset="0"/>
                <a:cs typeface="Times New Roman" pitchFamily="18" charset="0"/>
              </a:rPr>
              <a:t>Contents</a:t>
            </a:r>
          </a:p>
        </p:txBody>
      </p:sp>
      <p:sp>
        <p:nvSpPr>
          <p:cNvPr id="3075" name="Rectangle 3"/>
          <p:cNvSpPr>
            <a:spLocks noGrp="1" noChangeArrowheads="1"/>
          </p:cNvSpPr>
          <p:nvPr>
            <p:ph idx="1"/>
          </p:nvPr>
        </p:nvSpPr>
        <p:spPr>
          <a:xfrm>
            <a:off x="457200" y="1295400"/>
            <a:ext cx="8229600" cy="4830763"/>
          </a:xfrm>
        </p:spPr>
        <p:txBody>
          <a:bodyPr>
            <a:normAutofit/>
          </a:bodyPr>
          <a:lstStyle/>
          <a:p>
            <a:pPr lvl="2" eaLnBrk="1" hangingPunct="1"/>
            <a:r>
              <a:rPr lang="en-US" sz="2800" dirty="0">
                <a:latin typeface="Times New Roman" pitchFamily="18" charset="0"/>
                <a:cs typeface="Times New Roman" pitchFamily="18" charset="0"/>
              </a:rPr>
              <a:t>Introduction</a:t>
            </a:r>
          </a:p>
          <a:p>
            <a:pPr lvl="2" eaLnBrk="1" hangingPunct="1"/>
            <a:r>
              <a:rPr lang="en-US" sz="2800" dirty="0">
                <a:latin typeface="Times New Roman" pitchFamily="18" charset="0"/>
                <a:cs typeface="Times New Roman" pitchFamily="18" charset="0"/>
              </a:rPr>
              <a:t>Literature Review</a:t>
            </a:r>
          </a:p>
          <a:p>
            <a:pPr lvl="2" eaLnBrk="1" hangingPunct="1"/>
            <a:r>
              <a:rPr lang="en-US" sz="2800" dirty="0">
                <a:latin typeface="Times New Roman" pitchFamily="18" charset="0"/>
                <a:cs typeface="Times New Roman" pitchFamily="18" charset="0"/>
              </a:rPr>
              <a:t>Objective </a:t>
            </a:r>
          </a:p>
          <a:p>
            <a:pPr lvl="2" eaLnBrk="1" hangingPunct="1"/>
            <a:r>
              <a:rPr lang="en-US" sz="2800" dirty="0">
                <a:latin typeface="Times New Roman" pitchFamily="18" charset="0"/>
                <a:cs typeface="Times New Roman" pitchFamily="18" charset="0"/>
              </a:rPr>
              <a:t>Work Plan &amp; Technology used</a:t>
            </a:r>
          </a:p>
          <a:p>
            <a:pPr lvl="2" eaLnBrk="1" hangingPunct="1"/>
            <a:r>
              <a:rPr lang="en-US" sz="2800" dirty="0">
                <a:latin typeface="Times New Roman" pitchFamily="18" charset="0"/>
                <a:cs typeface="Times New Roman" pitchFamily="18" charset="0"/>
              </a:rPr>
              <a:t>Circuit Diagram &amp; Description</a:t>
            </a:r>
          </a:p>
          <a:p>
            <a:pPr lvl="2" eaLnBrk="1" hangingPunct="1"/>
            <a:r>
              <a:rPr lang="en-US" sz="2800" dirty="0">
                <a:latin typeface="Times New Roman" pitchFamily="18" charset="0"/>
                <a:cs typeface="Times New Roman" pitchFamily="18" charset="0"/>
              </a:rPr>
              <a:t>Proposed Methodology/Algorithm</a:t>
            </a:r>
          </a:p>
          <a:p>
            <a:pPr lvl="2" eaLnBrk="1" hangingPunct="1"/>
            <a:r>
              <a:rPr lang="en-US" sz="2800" dirty="0">
                <a:latin typeface="Times New Roman" pitchFamily="18" charset="0"/>
                <a:cs typeface="Times New Roman" pitchFamily="18" charset="0"/>
              </a:rPr>
              <a:t>Expected Outcomes</a:t>
            </a:r>
          </a:p>
          <a:p>
            <a:pPr lvl="2" eaLnBrk="1" hangingPunct="1"/>
            <a:r>
              <a:rPr lang="en-US" sz="2800" dirty="0">
                <a:latin typeface="Times New Roman" pitchFamily="18" charset="0"/>
                <a:cs typeface="Times New Roman" pitchFamily="18" charset="0"/>
              </a:rPr>
              <a:t>Conclusion</a:t>
            </a:r>
          </a:p>
          <a:p>
            <a:pPr lvl="2" eaLnBrk="1" hangingPunct="1"/>
            <a:r>
              <a:rPr lang="en-US" sz="2800" dirty="0">
                <a:latin typeface="Times New Roman" pitchFamily="18" charset="0"/>
                <a:cs typeface="Times New Roman" pitchFamily="18" charset="0"/>
              </a:rPr>
              <a:t>References</a:t>
            </a:r>
          </a:p>
          <a:p>
            <a:pPr eaLnBrk="1" hangingPunct="1">
              <a:buFontTx/>
              <a:buNone/>
            </a:pPr>
            <a:endParaRPr lang="en-US" sz="2800" dirty="0">
              <a:solidFill>
                <a:schemeClr val="accent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761"/>
            <a:ext cx="8229600" cy="1143000"/>
          </a:xfrm>
        </p:spPr>
        <p:txBody>
          <a:bodyPr/>
          <a:lstStyle/>
          <a:p>
            <a:r>
              <a:rPr lang="en-US" dirty="0"/>
              <a:t>Introduction</a:t>
            </a:r>
            <a:endParaRPr lang="en-GB" dirty="0"/>
          </a:p>
        </p:txBody>
      </p:sp>
      <p:sp>
        <p:nvSpPr>
          <p:cNvPr id="3" name="Content Placeholder 2"/>
          <p:cNvSpPr>
            <a:spLocks noGrp="1"/>
          </p:cNvSpPr>
          <p:nvPr>
            <p:ph idx="1"/>
          </p:nvPr>
        </p:nvSpPr>
        <p:spPr>
          <a:xfrm>
            <a:off x="457200" y="1196752"/>
            <a:ext cx="8229600" cy="5328592"/>
          </a:xfrm>
        </p:spPr>
        <p:txBody>
          <a:bodyPr>
            <a:normAutofit lnSpcReduction="10000"/>
          </a:bodyPr>
          <a:lstStyle/>
          <a:p>
            <a:pPr algn="just"/>
            <a:r>
              <a:rPr lang="en-GB" sz="2400" dirty="0"/>
              <a:t>This project is about the “Flappy Bird Game”  which uses </a:t>
            </a:r>
            <a:r>
              <a:rPr lang="en-GB" sz="2400" dirty="0" err="1"/>
              <a:t>py</a:t>
            </a:r>
            <a:r>
              <a:rPr lang="en-GB" sz="2400" dirty="0"/>
              <a:t>-game module to get organised correctly an efficient manner.</a:t>
            </a:r>
          </a:p>
          <a:p>
            <a:pPr marL="0" indent="0" algn="just">
              <a:buNone/>
            </a:pPr>
            <a:endParaRPr lang="en-GB" sz="2400" dirty="0"/>
          </a:p>
          <a:p>
            <a:pPr algn="just"/>
            <a:r>
              <a:rPr lang="en-GB" sz="2400" dirty="0"/>
              <a:t>This module contains functions of every basic asset which are crucial for building any game, it contains- physics, </a:t>
            </a:r>
            <a:r>
              <a:rPr lang="en-GB" sz="2400" dirty="0" err="1"/>
              <a:t>blitting</a:t>
            </a:r>
            <a:r>
              <a:rPr lang="en-GB" sz="2400" dirty="0"/>
              <a:t> ,FPS, clock, 2D and much more.</a:t>
            </a:r>
          </a:p>
          <a:p>
            <a:pPr marL="0" indent="0" algn="just">
              <a:buNone/>
            </a:pPr>
            <a:endParaRPr lang="en-GB" sz="2400" dirty="0"/>
          </a:p>
          <a:p>
            <a:pPr algn="just"/>
            <a:r>
              <a:rPr lang="en-GB" sz="2400" dirty="0"/>
              <a:t>We used such functions and classes to create Flappy Bird where user can give input to which our avatar reacts and the goal is to pass through all the random generated pipes as far as the user can and get good scores.</a:t>
            </a:r>
          </a:p>
          <a:p>
            <a:pPr marL="0" indent="0" algn="just">
              <a:buNone/>
            </a:pPr>
            <a:endParaRPr lang="en-GB" sz="2400" dirty="0"/>
          </a:p>
          <a:p>
            <a:pPr algn="just"/>
            <a:r>
              <a:rPr lang="en-GB" sz="2400" dirty="0"/>
              <a:t>But there is a twist, that every time when the avatar passes any pipe the user will get a gradual increment in the speed of the avatar.</a:t>
            </a:r>
          </a:p>
        </p:txBody>
      </p:sp>
    </p:spTree>
    <p:extLst>
      <p:ext uri="{BB962C8B-B14F-4D97-AF65-F5344CB8AC3E}">
        <p14:creationId xmlns:p14="http://schemas.microsoft.com/office/powerpoint/2010/main" xmlns="" val="2120349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cs typeface="Times New Roman" pitchFamily="18" charset="0"/>
              </a:rPr>
              <a:t>Literature </a:t>
            </a:r>
            <a:r>
              <a:rPr lang="en-US" dirty="0" smtClean="0">
                <a:cs typeface="Times New Roman" pitchFamily="18" charset="0"/>
              </a:rPr>
              <a:t>Review</a:t>
            </a:r>
            <a:endParaRPr lang="en-US" dirty="0"/>
          </a:p>
        </p:txBody>
      </p:sp>
      <p:sp>
        <p:nvSpPr>
          <p:cNvPr id="3" name="Content Placeholder 2"/>
          <p:cNvSpPr>
            <a:spLocks noGrp="1"/>
          </p:cNvSpPr>
          <p:nvPr>
            <p:ph idx="1"/>
          </p:nvPr>
        </p:nvSpPr>
        <p:spPr/>
        <p:txBody>
          <a:bodyPr>
            <a:normAutofit/>
          </a:bodyPr>
          <a:lstStyle/>
          <a:p>
            <a:pPr marL="0" indent="0">
              <a:buNone/>
            </a:pPr>
            <a:r>
              <a:rPr lang="en-US" sz="3200" dirty="0"/>
              <a:t>Topics to be covered </a:t>
            </a:r>
          </a:p>
          <a:p>
            <a:pPr lvl="1"/>
            <a:r>
              <a:rPr lang="en-US" sz="2800" dirty="0"/>
              <a:t>Problems statement</a:t>
            </a:r>
          </a:p>
          <a:p>
            <a:pPr lvl="1"/>
            <a:r>
              <a:rPr lang="en-US" sz="2800" dirty="0"/>
              <a:t>Methodology used</a:t>
            </a:r>
          </a:p>
          <a:p>
            <a:pPr lvl="1"/>
            <a:r>
              <a:rPr lang="en-US" sz="2800" dirty="0"/>
              <a:t>Simulation parameter used</a:t>
            </a:r>
          </a:p>
          <a:p>
            <a:pPr lvl="1"/>
            <a:r>
              <a:rPr lang="en-US" sz="2800" dirty="0"/>
              <a:t>Tools / language/simulation enviornment</a:t>
            </a:r>
          </a:p>
          <a:p>
            <a:pPr lvl="1"/>
            <a:r>
              <a:rPr lang="en-US" sz="2800" dirty="0"/>
              <a:t>Advantages/disadvantages</a:t>
            </a:r>
          </a:p>
          <a:p>
            <a:pPr lvl="1"/>
            <a:r>
              <a:rPr lang="en-US" sz="2800" dirty="0"/>
              <a:t>Conclusion/results based on used parameter</a:t>
            </a:r>
          </a:p>
          <a:p>
            <a:pPr lvl="1"/>
            <a:r>
              <a:rPr lang="en-US" sz="2800" dirty="0"/>
              <a:t>Future scope</a:t>
            </a:r>
          </a:p>
          <a:p>
            <a:pPr lvl="1"/>
            <a:endParaRPr lang="en-US" sz="2800" dirty="0"/>
          </a:p>
          <a:p>
            <a:pPr lvl="1"/>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Template for Literature Review</a:t>
            </a:r>
            <a:endParaRPr lang="en-IN" dirty="0"/>
          </a:p>
        </p:txBody>
      </p:sp>
      <p:sp>
        <p:nvSpPr>
          <p:cNvPr id="3" name="Content Placeholder 2"/>
          <p:cNvSpPr>
            <a:spLocks noGrp="1"/>
          </p:cNvSpPr>
          <p:nvPr>
            <p:ph idx="1"/>
          </p:nvPr>
        </p:nvSpPr>
        <p:spPr/>
        <p:txBody>
          <a:bodyPr>
            <a:normAutofit/>
          </a:bodyPr>
          <a:lstStyle/>
          <a:p>
            <a:pPr marL="0" indent="0" algn="just">
              <a:buNone/>
            </a:pPr>
            <a:r>
              <a:rPr lang="en-US" sz="2000" b="1" i="0" dirty="0">
                <a:effectLst/>
                <a:latin typeface="Söhne"/>
              </a:rPr>
              <a:t>    </a:t>
            </a:r>
            <a:r>
              <a:rPr lang="en-US" sz="2000" b="1" i="0" u="sng" dirty="0">
                <a:effectLst/>
                <a:latin typeface="Söhne"/>
              </a:rPr>
              <a:t>Problem Statement</a:t>
            </a:r>
            <a:r>
              <a:rPr lang="en-US" sz="2000" b="1" i="0" dirty="0">
                <a:effectLst/>
                <a:latin typeface="Söhne"/>
              </a:rPr>
              <a:t>:</a:t>
            </a:r>
          </a:p>
          <a:p>
            <a:pPr algn="just">
              <a:lnSpc>
                <a:spcPct val="200000"/>
              </a:lnSpc>
              <a:spcBef>
                <a:spcPts val="0"/>
              </a:spcBef>
            </a:pPr>
            <a:r>
              <a:rPr lang="en-US" sz="2000" b="0" i="0" dirty="0">
                <a:effectLst/>
                <a:latin typeface="Söhne"/>
              </a:rPr>
              <a:t>Design and implement a Flappy Bird game using the </a:t>
            </a:r>
            <a:r>
              <a:rPr lang="en-US" sz="2000" b="0" i="0" dirty="0" err="1">
                <a:effectLst/>
                <a:latin typeface="Söhne"/>
              </a:rPr>
              <a:t>Pygame</a:t>
            </a:r>
            <a:r>
              <a:rPr lang="en-US" sz="2000" b="0" i="0" dirty="0">
                <a:effectLst/>
                <a:latin typeface="Söhne"/>
              </a:rPr>
              <a:t> library, considering the challenges involved in creating a responsive and engaging gaming experience. The goal is to create a simple yet entertaining game with user-friendly controls and obstacles that progressively increase in difficulty.</a:t>
            </a:r>
          </a:p>
          <a:p>
            <a:pPr marL="0" indent="0" algn="l">
              <a:buNone/>
            </a:pPr>
            <a:r>
              <a:rPr lang="en-US" sz="2000" b="0" i="0" dirty="0">
                <a:effectLst/>
                <a:latin typeface="Söhne"/>
              </a:rPr>
              <a:t>	</a:t>
            </a:r>
            <a:endParaRPr lang="en-US" sz="1800" b="0" i="0" dirty="0">
              <a:effectLst/>
              <a:latin typeface="Söhne"/>
            </a:endParaRPr>
          </a:p>
          <a:p>
            <a:pPr marL="0" indent="0" algn="just">
              <a:buNone/>
            </a:pPr>
            <a:r>
              <a:rPr lang="en-US" sz="1200" b="1" dirty="0">
                <a:latin typeface="Söhne"/>
              </a:rPr>
              <a:t>      </a:t>
            </a:r>
            <a:endParaRPr lang="en-IN"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566A98F-BC27-6BED-8067-3E44CBBC862D}"/>
              </a:ext>
            </a:extLst>
          </p:cNvPr>
          <p:cNvSpPr>
            <a:spLocks noGrp="1"/>
          </p:cNvSpPr>
          <p:nvPr>
            <p:ph idx="1"/>
          </p:nvPr>
        </p:nvSpPr>
        <p:spPr>
          <a:xfrm>
            <a:off x="0" y="0"/>
            <a:ext cx="9144000" cy="6669360"/>
          </a:xfrm>
        </p:spPr>
        <p:txBody>
          <a:bodyPr>
            <a:noAutofit/>
          </a:bodyPr>
          <a:lstStyle/>
          <a:p>
            <a:pPr marL="0" indent="0" algn="just">
              <a:buNone/>
            </a:pPr>
            <a:r>
              <a:rPr lang="en-US" sz="1800" b="1" u="sng" dirty="0">
                <a:latin typeface="Söhne"/>
              </a:rPr>
              <a:t>Methodology Used</a:t>
            </a:r>
            <a:r>
              <a:rPr lang="en-US" sz="1800" b="1" dirty="0">
                <a:latin typeface="Söhne"/>
              </a:rPr>
              <a:t>:</a:t>
            </a:r>
          </a:p>
          <a:p>
            <a:pPr algn="just">
              <a:lnSpc>
                <a:spcPct val="170000"/>
              </a:lnSpc>
              <a:spcBef>
                <a:spcPts val="600"/>
              </a:spcBef>
              <a:spcAft>
                <a:spcPts val="600"/>
              </a:spcAft>
            </a:pPr>
            <a:r>
              <a:rPr lang="en-US" sz="1800" dirty="0">
                <a:latin typeface="Söhne"/>
              </a:rPr>
              <a:t>The development of the Flappy Bird game involves using the </a:t>
            </a:r>
            <a:r>
              <a:rPr lang="en-US" sz="1800" dirty="0" err="1">
                <a:latin typeface="Söhne"/>
              </a:rPr>
              <a:t>Pygame</a:t>
            </a:r>
            <a:r>
              <a:rPr lang="en-US" sz="1800" dirty="0">
                <a:latin typeface="Söhne"/>
              </a:rPr>
              <a:t> library in Python. </a:t>
            </a:r>
            <a:r>
              <a:rPr lang="en-US" sz="1800" dirty="0" err="1">
                <a:latin typeface="Söhne"/>
              </a:rPr>
              <a:t>Pygame</a:t>
            </a:r>
            <a:r>
              <a:rPr lang="en-US" sz="1800" dirty="0">
                <a:latin typeface="Söhne"/>
              </a:rPr>
              <a:t> is a set of Python modules designed for writing video games. </a:t>
            </a:r>
          </a:p>
          <a:p>
            <a:pPr algn="just">
              <a:lnSpc>
                <a:spcPct val="170000"/>
              </a:lnSpc>
              <a:spcBef>
                <a:spcPts val="600"/>
              </a:spcBef>
              <a:spcAft>
                <a:spcPts val="600"/>
              </a:spcAft>
            </a:pPr>
            <a:r>
              <a:rPr lang="en-US" sz="1800" dirty="0">
                <a:latin typeface="Söhne"/>
              </a:rPr>
              <a:t>The game logic includes handling user input for controlling the bird's movement, managing collision detection with pipes, and implementing a scoring system. The gameplay is based on the classic Flappy Bird mechanics, where the player must navigate a bird through a series of pipes by tapping on the screen to make the bird jump.</a:t>
            </a:r>
          </a:p>
          <a:p>
            <a:pPr>
              <a:lnSpc>
                <a:spcPct val="170000"/>
              </a:lnSpc>
              <a:spcBef>
                <a:spcPts val="600"/>
              </a:spcBef>
              <a:spcAft>
                <a:spcPts val="600"/>
              </a:spcAft>
            </a:pPr>
            <a:r>
              <a:rPr lang="en-US" sz="1800" dirty="0">
                <a:latin typeface="Söhne"/>
              </a:rPr>
              <a:t>Here we used RAD (Rapid Application Development) model to create the software, RAD is a linear sequential software development process model that emphasizes a concise development cycle using an element based construction approach. If the requirements are well understood and described, and the project scope is a constraint, the RAD process enables a development team to create a fully functional system within a concise time period.</a:t>
            </a:r>
          </a:p>
          <a:p>
            <a:pPr marL="0" indent="0">
              <a:lnSpc>
                <a:spcPct val="170000"/>
              </a:lnSpc>
              <a:spcBef>
                <a:spcPts val="600"/>
              </a:spcBef>
              <a:spcAft>
                <a:spcPts val="600"/>
              </a:spcAft>
              <a:buNone/>
            </a:pPr>
            <a:endParaRPr lang="en-US" sz="1800" dirty="0">
              <a:latin typeface="Söhne"/>
            </a:endParaRPr>
          </a:p>
        </p:txBody>
      </p:sp>
    </p:spTree>
    <p:extLst>
      <p:ext uri="{BB962C8B-B14F-4D97-AF65-F5344CB8AC3E}">
        <p14:creationId xmlns:p14="http://schemas.microsoft.com/office/powerpoint/2010/main" xmlns="" val="3985274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566A98F-BC27-6BED-8067-3E44CBBC862D}"/>
              </a:ext>
            </a:extLst>
          </p:cNvPr>
          <p:cNvSpPr>
            <a:spLocks noGrp="1"/>
          </p:cNvSpPr>
          <p:nvPr>
            <p:ph idx="1"/>
          </p:nvPr>
        </p:nvSpPr>
        <p:spPr>
          <a:xfrm>
            <a:off x="457200" y="332656"/>
            <a:ext cx="8229600" cy="5793507"/>
          </a:xfrm>
        </p:spPr>
        <p:txBody>
          <a:bodyPr>
            <a:normAutofit lnSpcReduction="10000"/>
          </a:bodyPr>
          <a:lstStyle/>
          <a:p>
            <a:pPr marL="0" indent="0" algn="l">
              <a:buNone/>
            </a:pPr>
            <a:r>
              <a:rPr lang="en-US" sz="2000" b="1" i="0" u="sng" dirty="0">
                <a:effectLst/>
                <a:latin typeface="Söhne"/>
              </a:rPr>
              <a:t>Simulation Parameters Used</a:t>
            </a:r>
            <a:r>
              <a:rPr lang="en-US" sz="2000" b="1" i="0" dirty="0">
                <a:effectLst/>
                <a:latin typeface="Söhne"/>
              </a:rPr>
              <a:t>:</a:t>
            </a:r>
          </a:p>
          <a:p>
            <a:pPr algn="just"/>
            <a:r>
              <a:rPr lang="en-US" sz="2000" b="1" i="0" dirty="0">
                <a:effectLst/>
                <a:latin typeface="Söhne"/>
              </a:rPr>
              <a:t>Gravity:</a:t>
            </a:r>
            <a:r>
              <a:rPr lang="en-US" sz="2000" b="0" i="0" dirty="0">
                <a:effectLst/>
                <a:latin typeface="Söhne"/>
              </a:rPr>
              <a:t> Simulating the effect of gravity on the bird's movement.</a:t>
            </a:r>
          </a:p>
          <a:p>
            <a:pPr algn="just"/>
            <a:r>
              <a:rPr lang="en-US" sz="2000" b="1" i="0" dirty="0">
                <a:effectLst/>
                <a:latin typeface="Söhne"/>
              </a:rPr>
              <a:t>Pipe Generation:</a:t>
            </a:r>
            <a:r>
              <a:rPr lang="en-US" sz="2000" b="0" i="0" dirty="0">
                <a:effectLst/>
                <a:latin typeface="Söhne"/>
              </a:rPr>
              <a:t> Dynamic generation of pipes at regular intervals to create obstacles.</a:t>
            </a:r>
          </a:p>
          <a:p>
            <a:pPr algn="just"/>
            <a:r>
              <a:rPr lang="en-US" sz="2000" b="1" i="0" dirty="0">
                <a:effectLst/>
                <a:latin typeface="Söhne"/>
              </a:rPr>
              <a:t>User Input Handling:</a:t>
            </a:r>
            <a:r>
              <a:rPr lang="en-US" sz="2000" b="0" i="0" dirty="0">
                <a:effectLst/>
                <a:latin typeface="Söhne"/>
              </a:rPr>
              <a:t> Capturing user input ( keyboard ) to control the bird's movement.</a:t>
            </a:r>
          </a:p>
          <a:p>
            <a:pPr algn="just"/>
            <a:r>
              <a:rPr lang="en-US" sz="2000" b="1" i="0" dirty="0">
                <a:effectLst/>
                <a:latin typeface="Söhne"/>
              </a:rPr>
              <a:t>Collision Detection:</a:t>
            </a:r>
            <a:r>
              <a:rPr lang="en-US" sz="2000" b="0" i="0" dirty="0">
                <a:effectLst/>
                <a:latin typeface="Söhne"/>
              </a:rPr>
              <a:t> Detecting collisions between the bird and pipes to determine game over conditions.</a:t>
            </a:r>
          </a:p>
          <a:p>
            <a:pPr algn="just"/>
            <a:r>
              <a:rPr lang="en-US" sz="2000" b="1" i="0" dirty="0">
                <a:effectLst/>
                <a:latin typeface="Söhne"/>
              </a:rPr>
              <a:t>Scoring System:</a:t>
            </a:r>
            <a:r>
              <a:rPr lang="en-US" sz="2000" b="0" i="0" dirty="0">
                <a:effectLst/>
                <a:latin typeface="Söhne"/>
              </a:rPr>
              <a:t> Implementing a scoring mechanism based on the number of pipes successfully passed.</a:t>
            </a:r>
          </a:p>
          <a:p>
            <a:pPr marL="0" indent="0" algn="l">
              <a:buNone/>
            </a:pPr>
            <a:endParaRPr lang="en-US" sz="2000" b="0" i="0" dirty="0">
              <a:effectLst/>
              <a:latin typeface="Söhne"/>
            </a:endParaRPr>
          </a:p>
          <a:p>
            <a:pPr marL="0" indent="0" algn="l">
              <a:buNone/>
            </a:pPr>
            <a:r>
              <a:rPr lang="en-IN" sz="2000" b="1" i="0" u="sng" dirty="0">
                <a:effectLst/>
                <a:latin typeface="Söhne"/>
              </a:rPr>
              <a:t>Tools / Language / Simulation Environment</a:t>
            </a:r>
            <a:r>
              <a:rPr lang="en-IN" sz="2000" b="1" i="0" dirty="0">
                <a:effectLst/>
                <a:latin typeface="Söhne"/>
              </a:rPr>
              <a:t>:</a:t>
            </a:r>
          </a:p>
          <a:p>
            <a:pPr algn="just"/>
            <a:r>
              <a:rPr lang="en-IN" sz="2000" b="1" i="0" dirty="0">
                <a:effectLst/>
                <a:latin typeface="Söhne"/>
              </a:rPr>
              <a:t>Language:</a:t>
            </a:r>
            <a:r>
              <a:rPr lang="en-IN" sz="2000" b="0" i="0" dirty="0">
                <a:effectLst/>
                <a:latin typeface="Söhne"/>
              </a:rPr>
              <a:t> Python</a:t>
            </a:r>
          </a:p>
          <a:p>
            <a:pPr algn="just"/>
            <a:r>
              <a:rPr lang="en-IN" sz="2000" b="1" i="0" dirty="0">
                <a:effectLst/>
                <a:latin typeface="Söhne"/>
              </a:rPr>
              <a:t>Library:</a:t>
            </a:r>
            <a:r>
              <a:rPr lang="en-IN" sz="2000" b="0" i="0" dirty="0">
                <a:effectLst/>
                <a:latin typeface="Söhne"/>
              </a:rPr>
              <a:t> </a:t>
            </a:r>
            <a:r>
              <a:rPr lang="en-IN" sz="2000" b="0" i="0" dirty="0" err="1">
                <a:effectLst/>
                <a:latin typeface="Söhne"/>
              </a:rPr>
              <a:t>Pygame</a:t>
            </a:r>
            <a:endParaRPr lang="en-IN" sz="2000" b="0" i="0" dirty="0">
              <a:effectLst/>
              <a:latin typeface="Söhne"/>
            </a:endParaRPr>
          </a:p>
          <a:p>
            <a:pPr algn="just"/>
            <a:r>
              <a:rPr lang="en-IN" sz="2000" b="1" i="0" dirty="0">
                <a:effectLst/>
                <a:latin typeface="Söhne"/>
              </a:rPr>
              <a:t>IDE:</a:t>
            </a:r>
            <a:r>
              <a:rPr lang="en-IN" sz="2000" b="0" i="0" dirty="0">
                <a:effectLst/>
                <a:latin typeface="Söhne"/>
              </a:rPr>
              <a:t> Any Python IDE (e.g., </a:t>
            </a:r>
            <a:r>
              <a:rPr lang="en-IN" sz="2000" b="0" i="0" dirty="0" err="1">
                <a:effectLst/>
                <a:latin typeface="Söhne"/>
              </a:rPr>
              <a:t>VSCode</a:t>
            </a:r>
            <a:r>
              <a:rPr lang="en-IN" sz="2000" b="0" i="0" dirty="0">
                <a:effectLst/>
                <a:latin typeface="Söhne"/>
              </a:rPr>
              <a:t>, PyCharm)</a:t>
            </a:r>
          </a:p>
          <a:p>
            <a:pPr algn="just"/>
            <a:r>
              <a:rPr lang="en-IN" sz="2000" b="1" i="0" dirty="0">
                <a:effectLst/>
                <a:latin typeface="Söhne"/>
              </a:rPr>
              <a:t>Simulation Environment:</a:t>
            </a:r>
            <a:r>
              <a:rPr lang="en-IN" sz="2000" b="0" i="0" dirty="0">
                <a:effectLst/>
                <a:latin typeface="Söhne"/>
              </a:rPr>
              <a:t> Local machine running Python with </a:t>
            </a:r>
            <a:r>
              <a:rPr lang="en-IN" sz="2000" b="0" i="0" dirty="0" err="1">
                <a:effectLst/>
                <a:latin typeface="Söhne"/>
              </a:rPr>
              <a:t>Pygame</a:t>
            </a:r>
            <a:r>
              <a:rPr lang="en-IN" sz="2000" b="0" i="0" dirty="0">
                <a:effectLst/>
                <a:latin typeface="Söhne"/>
              </a:rPr>
              <a:t> installed</a:t>
            </a:r>
          </a:p>
          <a:p>
            <a:endParaRPr lang="en-IN" sz="2000" dirty="0"/>
          </a:p>
        </p:txBody>
      </p:sp>
    </p:spTree>
    <p:extLst>
      <p:ext uri="{BB962C8B-B14F-4D97-AF65-F5344CB8AC3E}">
        <p14:creationId xmlns:p14="http://schemas.microsoft.com/office/powerpoint/2010/main" xmlns="" val="367035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566A98F-BC27-6BED-8067-3E44CBBC862D}"/>
              </a:ext>
            </a:extLst>
          </p:cNvPr>
          <p:cNvSpPr>
            <a:spLocks noGrp="1"/>
          </p:cNvSpPr>
          <p:nvPr>
            <p:ph idx="1"/>
          </p:nvPr>
        </p:nvSpPr>
        <p:spPr>
          <a:xfrm>
            <a:off x="457200" y="332656"/>
            <a:ext cx="8229600" cy="6336704"/>
          </a:xfrm>
        </p:spPr>
        <p:txBody>
          <a:bodyPr>
            <a:normAutofit/>
          </a:bodyPr>
          <a:lstStyle/>
          <a:p>
            <a:pPr marL="0" indent="0" algn="l">
              <a:buNone/>
            </a:pPr>
            <a:r>
              <a:rPr lang="en-US" sz="2000" b="1" i="0" u="sng" dirty="0">
                <a:effectLst/>
                <a:latin typeface="Söhne"/>
              </a:rPr>
              <a:t>Advantages/Disadvantages</a:t>
            </a:r>
            <a:r>
              <a:rPr lang="en-US" sz="2000" b="1" i="0" dirty="0">
                <a:effectLst/>
                <a:latin typeface="Söhne"/>
              </a:rPr>
              <a:t>:</a:t>
            </a:r>
          </a:p>
          <a:p>
            <a:pPr marL="0" indent="0" algn="l">
              <a:buNone/>
            </a:pPr>
            <a:endParaRPr lang="en-US" sz="2000" b="1" i="0" dirty="0">
              <a:effectLst/>
              <a:latin typeface="Söhne"/>
            </a:endParaRPr>
          </a:p>
          <a:p>
            <a:pPr marL="0" indent="0" algn="l">
              <a:buNone/>
            </a:pPr>
            <a:r>
              <a:rPr lang="en-US" sz="2000" b="1" i="0" dirty="0">
                <a:effectLst/>
                <a:latin typeface="Söhne"/>
              </a:rPr>
              <a:t>Advantages:</a:t>
            </a:r>
            <a:endParaRPr lang="en-US" sz="2000" b="0" i="0" dirty="0">
              <a:effectLst/>
              <a:latin typeface="Söhne"/>
            </a:endParaRPr>
          </a:p>
          <a:p>
            <a:pPr algn="just">
              <a:buFont typeface="Arial" panose="020B0604020202020204" pitchFamily="34" charset="0"/>
              <a:buChar char="•"/>
            </a:pPr>
            <a:r>
              <a:rPr lang="en-US" sz="2000" b="1" i="0" dirty="0">
                <a:effectLst/>
                <a:latin typeface="Söhne"/>
              </a:rPr>
              <a:t>Simplicity:</a:t>
            </a:r>
            <a:r>
              <a:rPr lang="en-US" sz="2000" b="0" i="0" dirty="0">
                <a:effectLst/>
                <a:latin typeface="Söhne"/>
              </a:rPr>
              <a:t> </a:t>
            </a:r>
            <a:r>
              <a:rPr lang="en-US" sz="2000" b="0" i="0" dirty="0" err="1">
                <a:effectLst/>
                <a:latin typeface="Söhne"/>
              </a:rPr>
              <a:t>Pygame</a:t>
            </a:r>
            <a:r>
              <a:rPr lang="en-US" sz="2000" b="0" i="0" dirty="0">
                <a:effectLst/>
                <a:latin typeface="Söhne"/>
              </a:rPr>
              <a:t> simplifies game development, making it accessible for developers of various skill levels.</a:t>
            </a:r>
          </a:p>
          <a:p>
            <a:pPr algn="just">
              <a:buFont typeface="Arial" panose="020B0604020202020204" pitchFamily="34" charset="0"/>
              <a:buChar char="•"/>
            </a:pPr>
            <a:r>
              <a:rPr lang="en-US" sz="2000" b="1" i="0" dirty="0" smtClean="0">
                <a:effectLst/>
                <a:latin typeface="Söhne"/>
              </a:rPr>
              <a:t>Cross-Platform </a:t>
            </a:r>
            <a:r>
              <a:rPr lang="en-US" sz="2000" b="1" i="0" dirty="0">
                <a:effectLst/>
                <a:latin typeface="Söhne"/>
              </a:rPr>
              <a:t>Compatibility:</a:t>
            </a:r>
            <a:r>
              <a:rPr lang="en-US" sz="2000" b="0" i="0" dirty="0">
                <a:effectLst/>
                <a:latin typeface="Söhne"/>
              </a:rPr>
              <a:t> Games developed with </a:t>
            </a:r>
            <a:r>
              <a:rPr lang="en-US" sz="2000" b="0" i="0" dirty="0" err="1">
                <a:effectLst/>
                <a:latin typeface="Söhne"/>
              </a:rPr>
              <a:t>Pygame</a:t>
            </a:r>
            <a:r>
              <a:rPr lang="en-US" sz="2000" b="0" i="0" dirty="0">
                <a:effectLst/>
                <a:latin typeface="Söhne"/>
              </a:rPr>
              <a:t> can be run on multiple platforms.</a:t>
            </a:r>
          </a:p>
          <a:p>
            <a:pPr marL="0" indent="0" algn="l">
              <a:buNone/>
            </a:pPr>
            <a:endParaRPr lang="en-US" sz="2000" dirty="0">
              <a:latin typeface="Söhne"/>
            </a:endParaRPr>
          </a:p>
          <a:p>
            <a:pPr marL="0" indent="0" algn="l">
              <a:buNone/>
            </a:pPr>
            <a:endParaRPr lang="en-US" sz="1000" b="0" i="0" dirty="0">
              <a:effectLst/>
              <a:latin typeface="Söhne"/>
            </a:endParaRPr>
          </a:p>
          <a:p>
            <a:pPr marL="0" indent="0" algn="l">
              <a:buNone/>
            </a:pPr>
            <a:r>
              <a:rPr lang="en-US" sz="2000" b="1" i="0" dirty="0">
                <a:effectLst/>
                <a:latin typeface="Söhne"/>
              </a:rPr>
              <a:t>Disadvantages:</a:t>
            </a:r>
            <a:endParaRPr lang="en-US" sz="2000" b="0" i="0" dirty="0">
              <a:effectLst/>
              <a:latin typeface="Söhne"/>
            </a:endParaRPr>
          </a:p>
          <a:p>
            <a:pPr algn="just">
              <a:buFont typeface="Arial" panose="020B0604020202020204" pitchFamily="34" charset="0"/>
              <a:buChar char="•"/>
            </a:pPr>
            <a:r>
              <a:rPr lang="en-US" sz="2000" b="1" i="0" dirty="0">
                <a:effectLst/>
                <a:latin typeface="Söhne"/>
              </a:rPr>
              <a:t>Performance:</a:t>
            </a:r>
            <a:r>
              <a:rPr lang="en-US" sz="2000" b="0" i="0" dirty="0">
                <a:effectLst/>
                <a:latin typeface="Söhne"/>
              </a:rPr>
              <a:t> </a:t>
            </a:r>
            <a:r>
              <a:rPr lang="en-US" sz="2000" b="0" i="0" dirty="0" err="1">
                <a:effectLst/>
                <a:latin typeface="Söhne"/>
              </a:rPr>
              <a:t>Pygame</a:t>
            </a:r>
            <a:r>
              <a:rPr lang="en-US" sz="2000" b="0" i="0" dirty="0">
                <a:effectLst/>
                <a:latin typeface="Söhne"/>
              </a:rPr>
              <a:t> may have limitations in handling complex and resource-intensive games.</a:t>
            </a:r>
          </a:p>
          <a:p>
            <a:pPr algn="just">
              <a:buFont typeface="Arial" panose="020B0604020202020204" pitchFamily="34" charset="0"/>
              <a:buChar char="•"/>
            </a:pPr>
            <a:r>
              <a:rPr lang="en-US" sz="2000" b="1" i="0" dirty="0">
                <a:effectLst/>
                <a:latin typeface="Söhne"/>
              </a:rPr>
              <a:t>Graphics Quality:</a:t>
            </a:r>
            <a:r>
              <a:rPr lang="en-US" sz="2000" b="0" i="0" dirty="0">
                <a:effectLst/>
                <a:latin typeface="Söhne"/>
              </a:rPr>
              <a:t> While suitable for 2D games, </a:t>
            </a:r>
            <a:r>
              <a:rPr lang="en-US" sz="2000" b="0" i="0" dirty="0" err="1">
                <a:effectLst/>
                <a:latin typeface="Söhne"/>
              </a:rPr>
              <a:t>Pygame</a:t>
            </a:r>
            <a:r>
              <a:rPr lang="en-US" sz="2000" b="0" i="0" dirty="0">
                <a:effectLst/>
                <a:latin typeface="Söhne"/>
              </a:rPr>
              <a:t> might not be the best choice for high-end graphics.</a:t>
            </a:r>
          </a:p>
          <a:p>
            <a:endParaRPr lang="en-IN" sz="2000" dirty="0"/>
          </a:p>
        </p:txBody>
      </p:sp>
    </p:spTree>
    <p:extLst>
      <p:ext uri="{BB962C8B-B14F-4D97-AF65-F5344CB8AC3E}">
        <p14:creationId xmlns:p14="http://schemas.microsoft.com/office/powerpoint/2010/main" xmlns="" val="754622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566A98F-BC27-6BED-8067-3E44CBBC862D}"/>
              </a:ext>
            </a:extLst>
          </p:cNvPr>
          <p:cNvSpPr>
            <a:spLocks noGrp="1"/>
          </p:cNvSpPr>
          <p:nvPr>
            <p:ph idx="1"/>
          </p:nvPr>
        </p:nvSpPr>
        <p:spPr>
          <a:xfrm>
            <a:off x="457200" y="332656"/>
            <a:ext cx="8229600" cy="6336704"/>
          </a:xfrm>
        </p:spPr>
        <p:txBody>
          <a:bodyPr>
            <a:normAutofit/>
          </a:bodyPr>
          <a:lstStyle/>
          <a:p>
            <a:pPr marL="0" indent="0" algn="l">
              <a:buNone/>
            </a:pPr>
            <a:r>
              <a:rPr lang="en-US" sz="2000" b="1" i="0" u="sng" dirty="0">
                <a:effectLst/>
                <a:latin typeface="Söhne"/>
              </a:rPr>
              <a:t>Conclusion/Results Based on Used Parameters</a:t>
            </a:r>
            <a:r>
              <a:rPr lang="en-US" sz="2000" b="1" i="0" dirty="0">
                <a:effectLst/>
                <a:latin typeface="Söhne"/>
              </a:rPr>
              <a:t>:</a:t>
            </a:r>
          </a:p>
          <a:p>
            <a:pPr algn="just"/>
            <a:r>
              <a:rPr lang="en-US" sz="2000" b="0" i="0" dirty="0">
                <a:effectLst/>
                <a:latin typeface="Söhne"/>
              </a:rPr>
              <a:t>The Flappy Bird game, developed using </a:t>
            </a:r>
            <a:r>
              <a:rPr lang="en-US" sz="2000" b="0" i="0" dirty="0" err="1">
                <a:effectLst/>
                <a:latin typeface="Söhne"/>
              </a:rPr>
              <a:t>Pygame</a:t>
            </a:r>
            <a:r>
              <a:rPr lang="en-US" sz="2000" b="0" i="0" dirty="0">
                <a:effectLst/>
                <a:latin typeface="Söhne"/>
              </a:rPr>
              <a:t>, demonstrates successful implementation of essential gaming elements. The gravity simulation, dynamic pipe generation, and user input handling contribute to an engaging and challenging gameplay experience. The collision detection mechanism ensures that the game responds appropriately to user actions, providing a satisfying and immersive experience.</a:t>
            </a:r>
          </a:p>
          <a:p>
            <a:pPr marL="0" indent="0" algn="just">
              <a:buNone/>
            </a:pPr>
            <a:endParaRPr lang="en-US" sz="2000" b="0" i="0" dirty="0">
              <a:effectLst/>
              <a:latin typeface="Söhne"/>
            </a:endParaRPr>
          </a:p>
          <a:p>
            <a:pPr marL="0" indent="0" algn="l">
              <a:buNone/>
            </a:pPr>
            <a:r>
              <a:rPr lang="en-US" sz="2000" b="1" i="0" u="sng" dirty="0">
                <a:effectLst/>
                <a:latin typeface="Söhne"/>
              </a:rPr>
              <a:t>Future Scope</a:t>
            </a:r>
            <a:r>
              <a:rPr lang="en-US" sz="2000" b="1" i="0" dirty="0">
                <a:effectLst/>
                <a:latin typeface="Söhne"/>
              </a:rPr>
              <a:t>:</a:t>
            </a:r>
          </a:p>
          <a:p>
            <a:pPr algn="just"/>
            <a:r>
              <a:rPr lang="en-US" sz="2000" b="1" i="0" dirty="0">
                <a:effectLst/>
                <a:latin typeface="Söhne"/>
              </a:rPr>
              <a:t>Enhanced Graphics:</a:t>
            </a:r>
            <a:r>
              <a:rPr lang="en-US" sz="2000" b="0" i="0" dirty="0">
                <a:effectLst/>
                <a:latin typeface="Söhne"/>
              </a:rPr>
              <a:t> Improving the visual aesthetics of the game by incorporating more sophisticated graphics and animations.</a:t>
            </a:r>
          </a:p>
          <a:p>
            <a:pPr algn="just"/>
            <a:r>
              <a:rPr lang="en-US" sz="2000" b="1" i="0" dirty="0">
                <a:effectLst/>
                <a:latin typeface="Söhne"/>
              </a:rPr>
              <a:t>Multiplatform Support:</a:t>
            </a:r>
            <a:r>
              <a:rPr lang="en-US" sz="2000" b="0" i="0" dirty="0">
                <a:effectLst/>
                <a:latin typeface="Söhne"/>
              </a:rPr>
              <a:t> Adapting the game for deployment on various platforms, such as mobile devices or web browsers.</a:t>
            </a:r>
          </a:p>
          <a:p>
            <a:pPr algn="just"/>
            <a:r>
              <a:rPr lang="en-US" sz="2000" b="1" i="0" dirty="0">
                <a:effectLst/>
                <a:latin typeface="Söhne"/>
              </a:rPr>
              <a:t>Leaderboards and Social Integration:</a:t>
            </a:r>
            <a:r>
              <a:rPr lang="en-US" sz="2000" b="0" i="0" dirty="0">
                <a:effectLst/>
                <a:latin typeface="Söhne"/>
              </a:rPr>
              <a:t> Implementing features like online leaderboards and social media integration to enhance competitiveness and community engagement.</a:t>
            </a:r>
          </a:p>
          <a:p>
            <a:pPr algn="just"/>
            <a:r>
              <a:rPr lang="en-US" sz="2000" b="1" i="0" dirty="0">
                <a:effectLst/>
                <a:latin typeface="Söhne"/>
              </a:rPr>
              <a:t>Additional Game Features:</a:t>
            </a:r>
            <a:r>
              <a:rPr lang="en-US" sz="2000" b="0" i="0" dirty="0">
                <a:effectLst/>
                <a:latin typeface="Söhne"/>
              </a:rPr>
              <a:t> Introducing new obstacles, power-ups, or levels to keep the game fresh and exciting for players.</a:t>
            </a:r>
          </a:p>
          <a:p>
            <a:endParaRPr lang="en-IN" sz="3600" dirty="0"/>
          </a:p>
        </p:txBody>
      </p:sp>
    </p:spTree>
    <p:extLst>
      <p:ext uri="{BB962C8B-B14F-4D97-AF65-F5344CB8AC3E}">
        <p14:creationId xmlns:p14="http://schemas.microsoft.com/office/powerpoint/2010/main" xmlns="" val="4248764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lgn="l"/>
            <a:r>
              <a:rPr lang="en-US" sz="4000" kern="1200" dirty="0">
                <a:solidFill>
                  <a:schemeClr val="tx1"/>
                </a:solidFill>
                <a:latin typeface="+mj-lt"/>
                <a:ea typeface="+mj-ea"/>
                <a:cs typeface="+mj-cs"/>
              </a:rPr>
              <a:t> Objective </a:t>
            </a:r>
            <a:r>
              <a:rPr lang="en-US" sz="2800" dirty="0">
                <a:latin typeface="Times New Roman" pitchFamily="18" charset="0"/>
                <a:cs typeface="Times New Roman" pitchFamily="18" charset="0"/>
              </a:rPr>
              <a:t/>
            </a:r>
            <a:br>
              <a:rPr lang="en-US" sz="2800" dirty="0">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rmAutofit/>
          </a:bodyPr>
          <a:lstStyle/>
          <a:p>
            <a:pPr algn="l"/>
            <a:r>
              <a:rPr lang="en-US" b="0" i="0" dirty="0">
                <a:effectLst/>
                <a:latin typeface="Söhne"/>
              </a:rPr>
              <a:t>The primary objectives in Flappy Bird are:</a:t>
            </a:r>
          </a:p>
          <a:p>
            <a:pPr algn="l"/>
            <a:endParaRPr lang="en-US" sz="1000" b="0" i="0" dirty="0">
              <a:effectLst/>
              <a:latin typeface="Söhne"/>
            </a:endParaRPr>
          </a:p>
          <a:p>
            <a:pPr algn="l">
              <a:buFont typeface="+mj-lt"/>
              <a:buAutoNum type="arabicPeriod"/>
            </a:pPr>
            <a:r>
              <a:rPr lang="en-US" b="1" i="0" dirty="0">
                <a:effectLst/>
                <a:latin typeface="Söhne"/>
              </a:rPr>
              <a:t>Avoid Collisions:</a:t>
            </a:r>
            <a:r>
              <a:rPr lang="en-US" b="0" i="0" dirty="0">
                <a:effectLst/>
                <a:latin typeface="Söhne"/>
              </a:rPr>
              <a:t> The main goal is to prevent the bird from colliding with the pipes. Each successful pass through a set of pipes earns the player a point.</a:t>
            </a:r>
          </a:p>
          <a:p>
            <a:pPr algn="l">
              <a:buFont typeface="+mj-lt"/>
              <a:buAutoNum type="arabicPeriod"/>
            </a:pPr>
            <a:r>
              <a:rPr lang="en-US" b="1" i="0" dirty="0">
                <a:effectLst/>
                <a:latin typeface="Söhne"/>
              </a:rPr>
              <a:t>Achieve a High Score:</a:t>
            </a:r>
            <a:r>
              <a:rPr lang="en-US" b="0" i="0" dirty="0">
                <a:effectLst/>
                <a:latin typeface="Söhne"/>
              </a:rPr>
              <a:t> The game becomes progressively more difficult as the player accumulates points. The speed of the scrolling pipes increases, and the gaps between pipes may become narrower, making it harder to navigate.</a:t>
            </a:r>
          </a:p>
          <a:p>
            <a:pPr algn="l">
              <a:buFont typeface="+mj-lt"/>
              <a:buAutoNum type="arabicPeriod"/>
            </a:pPr>
            <a:r>
              <a:rPr lang="en-US" b="1" i="0" dirty="0">
                <a:effectLst/>
                <a:latin typeface="Söhne"/>
              </a:rPr>
              <a:t>Challenge Yourself:</a:t>
            </a:r>
            <a:r>
              <a:rPr lang="en-US" b="0" i="0" dirty="0">
                <a:effectLst/>
                <a:latin typeface="Söhne"/>
              </a:rPr>
              <a:t> The game is designed to be challenging, and one of the objectives is to challenge yourself and others to achieve a higher score. The simplicity of the game mechanics contributes to its addictive nature.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t>
            </a:r>
            <a:r>
              <a:rPr lang="en-IN" dirty="0" err="1"/>
              <a:t>isCollide</a:t>
            </a:r>
            <a:r>
              <a:rPr lang="en-IN" dirty="0"/>
              <a:t>()’ Function</a:t>
            </a:r>
            <a:endParaRPr lang="en-US" dirty="0"/>
          </a:p>
        </p:txBody>
      </p:sp>
      <p:sp>
        <p:nvSpPr>
          <p:cNvPr id="3" name="Content Placeholder 2"/>
          <p:cNvSpPr>
            <a:spLocks noGrp="1"/>
          </p:cNvSpPr>
          <p:nvPr>
            <p:ph idx="1"/>
          </p:nvPr>
        </p:nvSpPr>
        <p:spPr>
          <a:xfrm>
            <a:off x="457200" y="1600200"/>
            <a:ext cx="4762872" cy="4525963"/>
          </a:xfrm>
        </p:spPr>
        <p:txBody>
          <a:bodyPr/>
          <a:lstStyle/>
          <a:p>
            <a:r>
              <a:rPr lang="en-US" dirty="0">
                <a:latin typeface="Söhne"/>
              </a:rPr>
              <a:t>Checks for collisions between the player and pipes or ground.</a:t>
            </a:r>
          </a:p>
          <a:p>
            <a:r>
              <a:rPr lang="en-US" dirty="0">
                <a:latin typeface="Söhne"/>
              </a:rPr>
              <a:t>Plays a 'hit' sound effect if a collision is detected.</a:t>
            </a:r>
          </a:p>
          <a:p>
            <a:endParaRPr lang="en-US" dirty="0"/>
          </a:p>
          <a:p>
            <a:endParaRPr lang="en-US" dirty="0"/>
          </a:p>
        </p:txBody>
      </p:sp>
      <p:pic>
        <p:nvPicPr>
          <p:cNvPr id="4" name="Picture 3" descr="A black background with white text&#10;&#10;Description automatically generated">
            <a:extLst>
              <a:ext uri="{FF2B5EF4-FFF2-40B4-BE49-F238E27FC236}">
                <a16:creationId xmlns:a16="http://schemas.microsoft.com/office/drawing/2014/main" xmlns="" id="{45E17C6A-8EDE-D9ED-DBCA-3FE4B72C712F}"/>
              </a:ext>
            </a:extLst>
          </p:cNvPr>
          <p:cNvPicPr>
            <a:picLocks noChangeAspect="1"/>
          </p:cNvPicPr>
          <p:nvPr/>
        </p:nvPicPr>
        <p:blipFill>
          <a:blip r:embed="rId2" cstate="print"/>
          <a:stretch>
            <a:fillRect/>
          </a:stretch>
        </p:blipFill>
        <p:spPr>
          <a:xfrm>
            <a:off x="251520" y="3573016"/>
            <a:ext cx="4769307" cy="753483"/>
          </a:xfrm>
          <a:prstGeom prst="rect">
            <a:avLst/>
          </a:prstGeom>
          <a:noFill/>
        </p:spPr>
      </p:pic>
      <p:pic>
        <p:nvPicPr>
          <p:cNvPr id="6" name="Picture 5"/>
          <p:cNvPicPr/>
          <p:nvPr/>
        </p:nvPicPr>
        <p:blipFill>
          <a:blip r:embed="rId3" cstate="print">
            <a:extLst>
              <a:ext uri="{28A0092B-C50C-407E-A947-70E740481C1C}">
                <a14:useLocalDpi xmlns:a14="http://schemas.microsoft.com/office/drawing/2010/main" xmlns="" val="0"/>
              </a:ext>
            </a:extLst>
          </a:blip>
          <a:stretch>
            <a:fillRect/>
          </a:stretch>
        </p:blipFill>
        <p:spPr>
          <a:xfrm>
            <a:off x="5580112" y="972656"/>
            <a:ext cx="2743200" cy="5120640"/>
          </a:xfrm>
          <a:prstGeom prst="rect">
            <a:avLst/>
          </a:prstGeom>
        </p:spPr>
      </p:pic>
    </p:spTree>
    <p:extLst>
      <p:ext uri="{BB962C8B-B14F-4D97-AF65-F5344CB8AC3E}">
        <p14:creationId xmlns:p14="http://schemas.microsoft.com/office/powerpoint/2010/main" xmlns="" val="372129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welcomescreen</a:t>
            </a:r>
            <a:r>
              <a:rPr lang="en-US" dirty="0"/>
              <a:t>()’ Function</a:t>
            </a:r>
          </a:p>
        </p:txBody>
      </p:sp>
      <p:sp>
        <p:nvSpPr>
          <p:cNvPr id="3" name="Content Placeholder 2"/>
          <p:cNvSpPr>
            <a:spLocks noGrp="1"/>
          </p:cNvSpPr>
          <p:nvPr>
            <p:ph idx="1"/>
          </p:nvPr>
        </p:nvSpPr>
        <p:spPr>
          <a:xfrm>
            <a:off x="457200" y="1600200"/>
            <a:ext cx="5122912" cy="4525963"/>
          </a:xfrm>
        </p:spPr>
        <p:txBody>
          <a:bodyPr/>
          <a:lstStyle/>
          <a:p>
            <a:r>
              <a:rPr lang="en-US" sz="2800" dirty="0">
                <a:latin typeface="Söhne"/>
              </a:rPr>
              <a:t>Displays welcome images on the screen.</a:t>
            </a:r>
          </a:p>
          <a:p>
            <a:r>
              <a:rPr lang="en-US" sz="2800" dirty="0">
                <a:latin typeface="Söhne"/>
              </a:rPr>
              <a:t>Allows the user to start the game by pressing the </a:t>
            </a:r>
            <a:r>
              <a:rPr lang="en-US" sz="2800" b="1" dirty="0">
                <a:latin typeface="Söhne"/>
              </a:rPr>
              <a:t>spacebar</a:t>
            </a:r>
            <a:r>
              <a:rPr lang="en-US" sz="2800" dirty="0">
                <a:latin typeface="Söhne"/>
              </a:rPr>
              <a:t> or the </a:t>
            </a:r>
            <a:r>
              <a:rPr lang="en-US" sz="2800" b="1" dirty="0">
                <a:latin typeface="Söhne"/>
              </a:rPr>
              <a:t>up arrow</a:t>
            </a:r>
            <a:r>
              <a:rPr lang="en-US" sz="2800" dirty="0">
                <a:latin typeface="Söhne"/>
              </a:rPr>
              <a:t> key.</a:t>
            </a:r>
          </a:p>
          <a:p>
            <a:r>
              <a:rPr lang="en-US" sz="2800" dirty="0">
                <a:latin typeface="Söhne"/>
              </a:rPr>
              <a:t>Uses </a:t>
            </a:r>
            <a:r>
              <a:rPr lang="en-US" sz="2800" dirty="0" err="1">
                <a:latin typeface="Söhne"/>
              </a:rPr>
              <a:t>Pygame</a:t>
            </a:r>
            <a:r>
              <a:rPr lang="en-US" sz="2800" dirty="0">
                <a:latin typeface="Söhne"/>
              </a:rPr>
              <a:t> event handling to manage user input.</a:t>
            </a:r>
          </a:p>
          <a:p>
            <a:endParaRPr lang="en-US" dirty="0"/>
          </a:p>
        </p:txBody>
      </p:sp>
      <p:pic>
        <p:nvPicPr>
          <p:cNvPr id="7" name="Picture 6"/>
          <p:cNvPicPr/>
          <p:nvPr/>
        </p:nvPicPr>
        <p:blipFill>
          <a:blip r:embed="rId2" cstate="print">
            <a:extLst>
              <a:ext uri="{28A0092B-C50C-407E-A947-70E740481C1C}">
                <a14:useLocalDpi xmlns:a14="http://schemas.microsoft.com/office/drawing/2010/main" xmlns="" val="0"/>
              </a:ext>
            </a:extLst>
          </a:blip>
          <a:stretch>
            <a:fillRect/>
          </a:stretch>
        </p:blipFill>
        <p:spPr>
          <a:xfrm>
            <a:off x="5603101" y="1412567"/>
            <a:ext cx="2720340" cy="5120640"/>
          </a:xfrm>
          <a:prstGeom prst="rect">
            <a:avLst/>
          </a:prstGeom>
        </p:spPr>
      </p:pic>
    </p:spTree>
    <p:extLst>
      <p:ext uri="{BB962C8B-B14F-4D97-AF65-F5344CB8AC3E}">
        <p14:creationId xmlns:p14="http://schemas.microsoft.com/office/powerpoint/2010/main" xmlns="" val="2808151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xmlns="" id="{66E48AFA-8884-4F68-A44F-D2C1E8609C5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827584" y="175444"/>
            <a:ext cx="2986391" cy="2216513"/>
          </a:xfrm>
        </p:spPr>
        <p:txBody>
          <a:bodyPr>
            <a:normAutofit/>
          </a:bodyPr>
          <a:lstStyle/>
          <a:p>
            <a:r>
              <a:rPr lang="en-US" u="sng" dirty="0"/>
              <a:t>Technology Used</a:t>
            </a:r>
            <a:endParaRPr lang="en-GB" u="sng" dirty="0"/>
          </a:p>
        </p:txBody>
      </p:sp>
      <p:sp>
        <p:nvSpPr>
          <p:cNvPr id="1033" name="Arc 1032">
            <a:extLst>
              <a:ext uri="{FF2B5EF4-FFF2-40B4-BE49-F238E27FC236}">
                <a16:creationId xmlns:a16="http://schemas.microsoft.com/office/drawing/2014/main" xmlns="" id="{969D19A6-08CB-498C-93EC-3FFB021FC68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1026" name="Picture 2" descr="Pygame Logos Page — pygame v2.6.0 documentation">
            <a:extLst>
              <a:ext uri="{FF2B5EF4-FFF2-40B4-BE49-F238E27FC236}">
                <a16:creationId xmlns:a16="http://schemas.microsoft.com/office/drawing/2014/main" xmlns="" id="{95F794F3-136C-13F3-A6BA-96B3423643AF}"/>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tretch>
            <a:fillRect/>
          </a:stretch>
        </p:blipFill>
        <p:spPr bwMode="auto">
          <a:xfrm>
            <a:off x="494935" y="1664178"/>
            <a:ext cx="8154129" cy="2288540"/>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extLst>
            <a:ext uri="{909E8E84-426E-40DD-AFC4-6F175D3DCCD1}">
              <a14:hiddenFill xmlns:a14="http://schemas.microsoft.com/office/drawing/2010/main" xmlns="">
                <a:solidFill>
                  <a:srgbClr val="FFFFFF"/>
                </a:solidFill>
              </a14:hiddenFill>
            </a:ext>
          </a:extLst>
        </p:spPr>
      </p:pic>
      <p:sp>
        <p:nvSpPr>
          <p:cNvPr id="3" name="Content Placeholder 2"/>
          <p:cNvSpPr>
            <a:spLocks noGrp="1"/>
          </p:cNvSpPr>
          <p:nvPr>
            <p:ph idx="1"/>
          </p:nvPr>
        </p:nvSpPr>
        <p:spPr>
          <a:xfrm>
            <a:off x="3728126" y="3998018"/>
            <a:ext cx="4920938" cy="2455317"/>
          </a:xfrm>
        </p:spPr>
        <p:txBody>
          <a:bodyPr>
            <a:normAutofit/>
          </a:bodyPr>
          <a:lstStyle/>
          <a:p>
            <a:r>
              <a:rPr lang="en-GB" sz="1600" dirty="0"/>
              <a:t>We used python as a programming language to create  the game by using </a:t>
            </a:r>
            <a:r>
              <a:rPr lang="en-GB" sz="1600" dirty="0" err="1"/>
              <a:t>pygame</a:t>
            </a:r>
            <a:r>
              <a:rPr lang="en-GB" sz="1600" dirty="0"/>
              <a:t> module.</a:t>
            </a:r>
          </a:p>
          <a:p>
            <a:endParaRPr lang="en-GB" sz="1600" dirty="0"/>
          </a:p>
          <a:p>
            <a:r>
              <a:rPr lang="en-GB" sz="1600" dirty="0"/>
              <a:t>The module is popular for it’s 90’s game such examples are REDSTAR, TIC TAC TOE, SUDOKU, SNAKE GAME, etc.</a:t>
            </a:r>
          </a:p>
          <a:p>
            <a:endParaRPr lang="en-GB" sz="1600" dirty="0"/>
          </a:p>
          <a:p>
            <a:r>
              <a:rPr lang="en-GB" sz="1600" dirty="0" err="1"/>
              <a:t>Pygame</a:t>
            </a:r>
            <a:r>
              <a:rPr lang="en-GB" sz="1600" dirty="0"/>
              <a:t> is also used to create GUI applications, multimedia applications, etc.</a:t>
            </a:r>
          </a:p>
          <a:p>
            <a:endParaRPr lang="en-GB" sz="1600" dirty="0"/>
          </a:p>
          <a:p>
            <a:pPr marL="0" indent="0">
              <a:buNone/>
            </a:pPr>
            <a:endParaRPr lang="en-GB" sz="1600" dirty="0"/>
          </a:p>
        </p:txBody>
      </p:sp>
    </p:spTree>
    <p:extLst>
      <p:ext uri="{BB962C8B-B14F-4D97-AF65-F5344CB8AC3E}">
        <p14:creationId xmlns:p14="http://schemas.microsoft.com/office/powerpoint/2010/main" xmlns="" val="412973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794" y="-434547"/>
            <a:ext cx="7886700" cy="1325563"/>
          </a:xfrm>
        </p:spPr>
        <p:txBody>
          <a:bodyPr/>
          <a:lstStyle/>
          <a:p>
            <a:r>
              <a:rPr lang="en-US" dirty="0"/>
              <a:t>			Proposed Methodology</a:t>
            </a:r>
            <a:endParaRPr lang="en-GB" dirty="0"/>
          </a:p>
        </p:txBody>
      </p:sp>
      <p:sp>
        <p:nvSpPr>
          <p:cNvPr id="4" name="Rectangle: Rounded Corners 3">
            <a:extLst>
              <a:ext uri="{FF2B5EF4-FFF2-40B4-BE49-F238E27FC236}">
                <a16:creationId xmlns:a16="http://schemas.microsoft.com/office/drawing/2014/main" xmlns="" id="{353925CD-8205-EB6C-03FF-2DD8B8368A11}"/>
              </a:ext>
            </a:extLst>
          </p:cNvPr>
          <p:cNvSpPr/>
          <p:nvPr/>
        </p:nvSpPr>
        <p:spPr>
          <a:xfrm>
            <a:off x="3707904" y="3212976"/>
            <a:ext cx="1872208" cy="1008112"/>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FLAPPY BIRD</a:t>
            </a:r>
          </a:p>
        </p:txBody>
      </p:sp>
      <p:sp>
        <p:nvSpPr>
          <p:cNvPr id="14" name="Oval 13">
            <a:extLst>
              <a:ext uri="{FF2B5EF4-FFF2-40B4-BE49-F238E27FC236}">
                <a16:creationId xmlns:a16="http://schemas.microsoft.com/office/drawing/2014/main" xmlns="" id="{1038577D-73C2-3AAE-0F59-AC61690A1BFE}"/>
              </a:ext>
            </a:extLst>
          </p:cNvPr>
          <p:cNvSpPr/>
          <p:nvPr/>
        </p:nvSpPr>
        <p:spPr>
          <a:xfrm>
            <a:off x="2309771" y="1389421"/>
            <a:ext cx="1325245" cy="815442"/>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smtClean="0">
                <a:solidFill>
                  <a:schemeClr val="tx1"/>
                </a:solidFill>
              </a:rPr>
              <a:t>Pygame</a:t>
            </a:r>
            <a:endParaRPr lang="en-IN" dirty="0">
              <a:solidFill>
                <a:schemeClr val="tx1"/>
              </a:solidFill>
            </a:endParaRPr>
          </a:p>
        </p:txBody>
      </p:sp>
      <p:cxnSp>
        <p:nvCxnSpPr>
          <p:cNvPr id="16" name="Connector: Curved 15">
            <a:extLst>
              <a:ext uri="{FF2B5EF4-FFF2-40B4-BE49-F238E27FC236}">
                <a16:creationId xmlns:a16="http://schemas.microsoft.com/office/drawing/2014/main" xmlns="" id="{C8C406BA-ADD9-2EC6-2868-59E178AD044E}"/>
              </a:ext>
            </a:extLst>
          </p:cNvPr>
          <p:cNvCxnSpPr>
            <a:cxnSpLocks/>
            <a:stCxn id="14" idx="5"/>
            <a:endCxn id="4" idx="0"/>
          </p:cNvCxnSpPr>
          <p:nvPr/>
        </p:nvCxnSpPr>
        <p:spPr>
          <a:xfrm rot="16200000" flipH="1">
            <a:off x="3478707" y="2047675"/>
            <a:ext cx="1127532" cy="1203070"/>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xmlns="" id="{D7B52303-A9ED-056B-180D-136183B02ACF}"/>
              </a:ext>
            </a:extLst>
          </p:cNvPr>
          <p:cNvCxnSpPr>
            <a:cxnSpLocks/>
            <a:stCxn id="14" idx="2"/>
            <a:endCxn id="27" idx="3"/>
          </p:cNvCxnSpPr>
          <p:nvPr/>
        </p:nvCxnSpPr>
        <p:spPr>
          <a:xfrm rot="10800000">
            <a:off x="1215229" y="1200306"/>
            <a:ext cx="1094543" cy="596836"/>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Connector: Curved 20">
            <a:extLst>
              <a:ext uri="{FF2B5EF4-FFF2-40B4-BE49-F238E27FC236}">
                <a16:creationId xmlns:a16="http://schemas.microsoft.com/office/drawing/2014/main" xmlns="" id="{27C2D12D-CFB2-C3E1-699D-31044C0A32CB}"/>
              </a:ext>
            </a:extLst>
          </p:cNvPr>
          <p:cNvCxnSpPr>
            <a:cxnSpLocks/>
            <a:stCxn id="14" idx="2"/>
            <a:endCxn id="131" idx="3"/>
          </p:cNvCxnSpPr>
          <p:nvPr/>
        </p:nvCxnSpPr>
        <p:spPr>
          <a:xfrm rot="10800000" flipV="1">
            <a:off x="1285327" y="1797141"/>
            <a:ext cx="1024445" cy="228475"/>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22">
            <a:extLst>
              <a:ext uri="{FF2B5EF4-FFF2-40B4-BE49-F238E27FC236}">
                <a16:creationId xmlns:a16="http://schemas.microsoft.com/office/drawing/2014/main" xmlns="" id="{91E3F849-ACEA-9401-D724-85CC7D25651D}"/>
              </a:ext>
            </a:extLst>
          </p:cNvPr>
          <p:cNvCxnSpPr>
            <a:cxnSpLocks/>
            <a:stCxn id="14" idx="2"/>
            <a:endCxn id="132" idx="3"/>
          </p:cNvCxnSpPr>
          <p:nvPr/>
        </p:nvCxnSpPr>
        <p:spPr>
          <a:xfrm rot="10800000" flipV="1">
            <a:off x="1397509" y="1797142"/>
            <a:ext cx="912262" cy="1025174"/>
          </a:xfrm>
          <a:prstGeom prst="curved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Connector: Curved 24">
            <a:extLst>
              <a:ext uri="{FF2B5EF4-FFF2-40B4-BE49-F238E27FC236}">
                <a16:creationId xmlns:a16="http://schemas.microsoft.com/office/drawing/2014/main" xmlns="" id="{3B210BE5-3023-9C31-EE6A-6CC8D53B3D09}"/>
              </a:ext>
            </a:extLst>
          </p:cNvPr>
          <p:cNvCxnSpPr>
            <a:cxnSpLocks/>
            <a:stCxn id="14" idx="2"/>
            <a:endCxn id="30" idx="3"/>
          </p:cNvCxnSpPr>
          <p:nvPr/>
        </p:nvCxnSpPr>
        <p:spPr>
          <a:xfrm rot="10800000" flipV="1">
            <a:off x="1475657" y="1797142"/>
            <a:ext cx="834115" cy="1860332"/>
          </a:xfrm>
          <a:prstGeom prst="curved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xmlns="" id="{8FEA431E-E8F0-B2D1-3AC5-3D20B49590A6}"/>
              </a:ext>
            </a:extLst>
          </p:cNvPr>
          <p:cNvSpPr/>
          <p:nvPr/>
        </p:nvSpPr>
        <p:spPr>
          <a:xfrm>
            <a:off x="-5864" y="956049"/>
            <a:ext cx="1221092" cy="488513"/>
          </a:xfrm>
          <a:prstGeom prst="rect">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Display Screen</a:t>
            </a:r>
          </a:p>
        </p:txBody>
      </p:sp>
      <p:sp>
        <p:nvSpPr>
          <p:cNvPr id="30" name="Rectangle 29">
            <a:extLst>
              <a:ext uri="{FF2B5EF4-FFF2-40B4-BE49-F238E27FC236}">
                <a16:creationId xmlns:a16="http://schemas.microsoft.com/office/drawing/2014/main" xmlns="" id="{695FC50E-389F-74AA-D433-CBE3130D683C}"/>
              </a:ext>
            </a:extLst>
          </p:cNvPr>
          <p:cNvSpPr/>
          <p:nvPr/>
        </p:nvSpPr>
        <p:spPr>
          <a:xfrm>
            <a:off x="58522" y="3428020"/>
            <a:ext cx="1417134" cy="458907"/>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Record Game Time</a:t>
            </a:r>
          </a:p>
        </p:txBody>
      </p:sp>
      <p:sp>
        <p:nvSpPr>
          <p:cNvPr id="37" name="Oval 36">
            <a:extLst>
              <a:ext uri="{FF2B5EF4-FFF2-40B4-BE49-F238E27FC236}">
                <a16:creationId xmlns:a16="http://schemas.microsoft.com/office/drawing/2014/main" xmlns="" id="{A7856B6C-E73C-B346-B19E-C5F109047567}"/>
              </a:ext>
            </a:extLst>
          </p:cNvPr>
          <p:cNvSpPr/>
          <p:nvPr/>
        </p:nvSpPr>
        <p:spPr>
          <a:xfrm>
            <a:off x="4917489" y="1357979"/>
            <a:ext cx="1325245" cy="815443"/>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Objects</a:t>
            </a:r>
          </a:p>
        </p:txBody>
      </p:sp>
      <p:cxnSp>
        <p:nvCxnSpPr>
          <p:cNvPr id="39" name="Connector: Curved 38">
            <a:extLst>
              <a:ext uri="{FF2B5EF4-FFF2-40B4-BE49-F238E27FC236}">
                <a16:creationId xmlns:a16="http://schemas.microsoft.com/office/drawing/2014/main" xmlns="" id="{F5CCF672-AD6B-38C5-EF69-C2DC9E910F9E}"/>
              </a:ext>
            </a:extLst>
          </p:cNvPr>
          <p:cNvCxnSpPr>
            <a:cxnSpLocks/>
            <a:stCxn id="37" idx="3"/>
            <a:endCxn id="4" idx="0"/>
          </p:cNvCxnSpPr>
          <p:nvPr/>
        </p:nvCxnSpPr>
        <p:spPr>
          <a:xfrm rot="5400000">
            <a:off x="4298302" y="2399710"/>
            <a:ext cx="1158973" cy="467559"/>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xmlns="" id="{3C0EAC32-F41A-0427-9E56-81FEDE48E509}"/>
              </a:ext>
            </a:extLst>
          </p:cNvPr>
          <p:cNvSpPr/>
          <p:nvPr/>
        </p:nvSpPr>
        <p:spPr>
          <a:xfrm>
            <a:off x="4644008" y="5276944"/>
            <a:ext cx="1464740" cy="1008112"/>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Static Methods</a:t>
            </a:r>
          </a:p>
        </p:txBody>
      </p:sp>
      <p:cxnSp>
        <p:nvCxnSpPr>
          <p:cNvPr id="46" name="Connector: Curved 45">
            <a:extLst>
              <a:ext uri="{FF2B5EF4-FFF2-40B4-BE49-F238E27FC236}">
                <a16:creationId xmlns:a16="http://schemas.microsoft.com/office/drawing/2014/main" xmlns="" id="{04854E3E-E6D6-E3C2-48BD-EF4EB3013BCF}"/>
              </a:ext>
            </a:extLst>
          </p:cNvPr>
          <p:cNvCxnSpPr>
            <a:cxnSpLocks/>
            <a:stCxn id="4" idx="2"/>
            <a:endCxn id="45" idx="1"/>
          </p:cNvCxnSpPr>
          <p:nvPr/>
        </p:nvCxnSpPr>
        <p:spPr>
          <a:xfrm rot="16200000" flipH="1">
            <a:off x="4149516" y="4715580"/>
            <a:ext cx="1203491" cy="214506"/>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xmlns="" id="{41C8B1DE-0190-C4A7-96E0-0E0EF11BB348}"/>
              </a:ext>
            </a:extLst>
          </p:cNvPr>
          <p:cNvSpPr/>
          <p:nvPr/>
        </p:nvSpPr>
        <p:spPr>
          <a:xfrm>
            <a:off x="7702245" y="116632"/>
            <a:ext cx="1172751" cy="354701"/>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Attributes</a:t>
            </a:r>
          </a:p>
        </p:txBody>
      </p:sp>
      <p:sp>
        <p:nvSpPr>
          <p:cNvPr id="51" name="Rectangle 50">
            <a:extLst>
              <a:ext uri="{FF2B5EF4-FFF2-40B4-BE49-F238E27FC236}">
                <a16:creationId xmlns:a16="http://schemas.microsoft.com/office/drawing/2014/main" xmlns="" id="{48E5D54C-4137-2D5A-4D03-8857AC3F70D6}"/>
              </a:ext>
            </a:extLst>
          </p:cNvPr>
          <p:cNvSpPr/>
          <p:nvPr/>
        </p:nvSpPr>
        <p:spPr>
          <a:xfrm>
            <a:off x="7702246" y="559955"/>
            <a:ext cx="936105" cy="354701"/>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Move</a:t>
            </a:r>
          </a:p>
        </p:txBody>
      </p:sp>
      <p:sp>
        <p:nvSpPr>
          <p:cNvPr id="52" name="Rectangle 51">
            <a:extLst>
              <a:ext uri="{FF2B5EF4-FFF2-40B4-BE49-F238E27FC236}">
                <a16:creationId xmlns:a16="http://schemas.microsoft.com/office/drawing/2014/main" xmlns="" id="{3F9ABBB6-6EB9-9200-A846-BAAF90F0DBEE}"/>
              </a:ext>
            </a:extLst>
          </p:cNvPr>
          <p:cNvSpPr/>
          <p:nvPr/>
        </p:nvSpPr>
        <p:spPr>
          <a:xfrm>
            <a:off x="7715490" y="1003278"/>
            <a:ext cx="936105" cy="354701"/>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Jump</a:t>
            </a:r>
          </a:p>
        </p:txBody>
      </p:sp>
      <p:sp>
        <p:nvSpPr>
          <p:cNvPr id="54" name="Rectangle 53">
            <a:extLst>
              <a:ext uri="{FF2B5EF4-FFF2-40B4-BE49-F238E27FC236}">
                <a16:creationId xmlns:a16="http://schemas.microsoft.com/office/drawing/2014/main" xmlns="" id="{A8F54B81-CCC4-E385-32A2-CCCF4D28D8C0}"/>
              </a:ext>
            </a:extLst>
          </p:cNvPr>
          <p:cNvSpPr/>
          <p:nvPr/>
        </p:nvSpPr>
        <p:spPr>
          <a:xfrm>
            <a:off x="7702243" y="1665972"/>
            <a:ext cx="1172753" cy="354701"/>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Attributes</a:t>
            </a:r>
          </a:p>
        </p:txBody>
      </p:sp>
      <p:sp>
        <p:nvSpPr>
          <p:cNvPr id="55" name="Rectangle 54">
            <a:extLst>
              <a:ext uri="{FF2B5EF4-FFF2-40B4-BE49-F238E27FC236}">
                <a16:creationId xmlns:a16="http://schemas.microsoft.com/office/drawing/2014/main" xmlns="" id="{086EDCE6-3569-7B54-F1C1-C1BFD4FEDE8B}"/>
              </a:ext>
            </a:extLst>
          </p:cNvPr>
          <p:cNvSpPr/>
          <p:nvPr/>
        </p:nvSpPr>
        <p:spPr>
          <a:xfrm>
            <a:off x="7702244" y="2165376"/>
            <a:ext cx="936105" cy="354701"/>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Move</a:t>
            </a:r>
          </a:p>
        </p:txBody>
      </p:sp>
      <p:sp>
        <p:nvSpPr>
          <p:cNvPr id="56" name="Rectangle 55">
            <a:extLst>
              <a:ext uri="{FF2B5EF4-FFF2-40B4-BE49-F238E27FC236}">
                <a16:creationId xmlns:a16="http://schemas.microsoft.com/office/drawing/2014/main" xmlns="" id="{C5AB41B6-1DF4-2BE2-A7C0-E0D1B8628244}"/>
              </a:ext>
            </a:extLst>
          </p:cNvPr>
          <p:cNvSpPr/>
          <p:nvPr/>
        </p:nvSpPr>
        <p:spPr>
          <a:xfrm>
            <a:off x="7702242" y="2683272"/>
            <a:ext cx="1088505" cy="587347"/>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Set Height</a:t>
            </a:r>
          </a:p>
        </p:txBody>
      </p:sp>
      <p:sp>
        <p:nvSpPr>
          <p:cNvPr id="57" name="Rectangle 56">
            <a:extLst>
              <a:ext uri="{FF2B5EF4-FFF2-40B4-BE49-F238E27FC236}">
                <a16:creationId xmlns:a16="http://schemas.microsoft.com/office/drawing/2014/main" xmlns="" id="{A850E4E1-CB4A-C217-0637-08A0ABFF6A1C}"/>
              </a:ext>
            </a:extLst>
          </p:cNvPr>
          <p:cNvSpPr/>
          <p:nvPr/>
        </p:nvSpPr>
        <p:spPr>
          <a:xfrm>
            <a:off x="5756454" y="3392265"/>
            <a:ext cx="1121112" cy="354701"/>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Attributes</a:t>
            </a:r>
          </a:p>
        </p:txBody>
      </p:sp>
      <p:sp>
        <p:nvSpPr>
          <p:cNvPr id="58" name="Rectangle 57">
            <a:extLst>
              <a:ext uri="{FF2B5EF4-FFF2-40B4-BE49-F238E27FC236}">
                <a16:creationId xmlns:a16="http://schemas.microsoft.com/office/drawing/2014/main" xmlns="" id="{FA0FA20C-6DAB-7853-390E-9188BE278819}"/>
              </a:ext>
            </a:extLst>
          </p:cNvPr>
          <p:cNvSpPr/>
          <p:nvPr/>
        </p:nvSpPr>
        <p:spPr>
          <a:xfrm>
            <a:off x="5847078" y="3866385"/>
            <a:ext cx="936105" cy="354701"/>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Move</a:t>
            </a:r>
          </a:p>
        </p:txBody>
      </p:sp>
      <p:cxnSp>
        <p:nvCxnSpPr>
          <p:cNvPr id="59" name="Connector: Curved 58">
            <a:extLst>
              <a:ext uri="{FF2B5EF4-FFF2-40B4-BE49-F238E27FC236}">
                <a16:creationId xmlns:a16="http://schemas.microsoft.com/office/drawing/2014/main" xmlns="" id="{DDD7FF6D-0242-8008-D387-2D6963536166}"/>
              </a:ext>
            </a:extLst>
          </p:cNvPr>
          <p:cNvCxnSpPr>
            <a:cxnSpLocks/>
            <a:stCxn id="50" idx="1"/>
            <a:endCxn id="37" idx="0"/>
          </p:cNvCxnSpPr>
          <p:nvPr/>
        </p:nvCxnSpPr>
        <p:spPr>
          <a:xfrm rot="10800000" flipV="1">
            <a:off x="5580113" y="293983"/>
            <a:ext cx="2122133" cy="1063996"/>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4" name="Connector: Curved 63">
            <a:extLst>
              <a:ext uri="{FF2B5EF4-FFF2-40B4-BE49-F238E27FC236}">
                <a16:creationId xmlns:a16="http://schemas.microsoft.com/office/drawing/2014/main" xmlns="" id="{A8D0DE31-53F4-A2A5-1664-3A45CD0B5DFF}"/>
              </a:ext>
            </a:extLst>
          </p:cNvPr>
          <p:cNvCxnSpPr>
            <a:cxnSpLocks/>
            <a:stCxn id="51" idx="1"/>
            <a:endCxn id="37" idx="0"/>
          </p:cNvCxnSpPr>
          <p:nvPr/>
        </p:nvCxnSpPr>
        <p:spPr>
          <a:xfrm rot="10800000" flipV="1">
            <a:off x="5580112" y="737305"/>
            <a:ext cx="2122134" cy="620673"/>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7" name="Connector: Curved 66">
            <a:extLst>
              <a:ext uri="{FF2B5EF4-FFF2-40B4-BE49-F238E27FC236}">
                <a16:creationId xmlns:a16="http://schemas.microsoft.com/office/drawing/2014/main" xmlns="" id="{8C5B0BC0-539C-5146-E529-3802ECA816BC}"/>
              </a:ext>
            </a:extLst>
          </p:cNvPr>
          <p:cNvCxnSpPr>
            <a:cxnSpLocks/>
            <a:stCxn id="52" idx="1"/>
            <a:endCxn id="37" idx="0"/>
          </p:cNvCxnSpPr>
          <p:nvPr/>
        </p:nvCxnSpPr>
        <p:spPr>
          <a:xfrm rot="10800000" flipV="1">
            <a:off x="5580112" y="1180629"/>
            <a:ext cx="2135378" cy="177350"/>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4" name="Connector: Curved 73">
            <a:extLst>
              <a:ext uri="{FF2B5EF4-FFF2-40B4-BE49-F238E27FC236}">
                <a16:creationId xmlns:a16="http://schemas.microsoft.com/office/drawing/2014/main" xmlns="" id="{63298700-26B8-1570-5D15-CAAD4C863677}"/>
              </a:ext>
            </a:extLst>
          </p:cNvPr>
          <p:cNvCxnSpPr>
            <a:cxnSpLocks/>
            <a:stCxn id="54" idx="1"/>
            <a:endCxn id="37" idx="5"/>
          </p:cNvCxnSpPr>
          <p:nvPr/>
        </p:nvCxnSpPr>
        <p:spPr>
          <a:xfrm rot="10800000" flipV="1">
            <a:off x="6048657" y="1843323"/>
            <a:ext cx="1653587" cy="210680"/>
          </a:xfrm>
          <a:prstGeom prst="curvedConnector4">
            <a:avLst>
              <a:gd name="adj1" fmla="val 44132"/>
              <a:gd name="adj2" fmla="val 265188"/>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8" name="Connector: Curved 77">
            <a:extLst>
              <a:ext uri="{FF2B5EF4-FFF2-40B4-BE49-F238E27FC236}">
                <a16:creationId xmlns:a16="http://schemas.microsoft.com/office/drawing/2014/main" xmlns="" id="{96D8CB12-861C-CAFC-BB2D-911CB3D56A06}"/>
              </a:ext>
            </a:extLst>
          </p:cNvPr>
          <p:cNvCxnSpPr>
            <a:cxnSpLocks/>
            <a:stCxn id="55" idx="1"/>
            <a:endCxn id="37" idx="5"/>
          </p:cNvCxnSpPr>
          <p:nvPr/>
        </p:nvCxnSpPr>
        <p:spPr>
          <a:xfrm rot="10800000">
            <a:off x="6048656" y="2054003"/>
            <a:ext cx="1653588" cy="288724"/>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1" name="Connector: Curved 80">
            <a:extLst>
              <a:ext uri="{FF2B5EF4-FFF2-40B4-BE49-F238E27FC236}">
                <a16:creationId xmlns:a16="http://schemas.microsoft.com/office/drawing/2014/main" xmlns="" id="{39DB6816-FDC6-9304-57C4-30EC61798900}"/>
              </a:ext>
            </a:extLst>
          </p:cNvPr>
          <p:cNvCxnSpPr>
            <a:cxnSpLocks/>
            <a:stCxn id="56" idx="1"/>
            <a:endCxn id="37" idx="5"/>
          </p:cNvCxnSpPr>
          <p:nvPr/>
        </p:nvCxnSpPr>
        <p:spPr>
          <a:xfrm rot="10800000">
            <a:off x="6048656" y="2054004"/>
            <a:ext cx="1653586" cy="922943"/>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4" name="Connector: Curved 83">
            <a:extLst>
              <a:ext uri="{FF2B5EF4-FFF2-40B4-BE49-F238E27FC236}">
                <a16:creationId xmlns:a16="http://schemas.microsoft.com/office/drawing/2014/main" xmlns="" id="{07387A83-216C-8047-6B28-FBE547E050D4}"/>
              </a:ext>
            </a:extLst>
          </p:cNvPr>
          <p:cNvCxnSpPr>
            <a:cxnSpLocks/>
            <a:stCxn id="57" idx="1"/>
            <a:endCxn id="37" idx="4"/>
          </p:cNvCxnSpPr>
          <p:nvPr/>
        </p:nvCxnSpPr>
        <p:spPr>
          <a:xfrm rot="10800000">
            <a:off x="5580112" y="2173422"/>
            <a:ext cx="176342" cy="1396194"/>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7" name="Connector: Curved 86">
            <a:extLst>
              <a:ext uri="{FF2B5EF4-FFF2-40B4-BE49-F238E27FC236}">
                <a16:creationId xmlns:a16="http://schemas.microsoft.com/office/drawing/2014/main" xmlns="" id="{2D085202-C01B-45C4-63C5-B6B58AC7B437}"/>
              </a:ext>
            </a:extLst>
          </p:cNvPr>
          <p:cNvCxnSpPr>
            <a:cxnSpLocks/>
            <a:stCxn id="58" idx="3"/>
            <a:endCxn id="37" idx="4"/>
          </p:cNvCxnSpPr>
          <p:nvPr/>
        </p:nvCxnSpPr>
        <p:spPr>
          <a:xfrm flipH="1" flipV="1">
            <a:off x="5580112" y="2173422"/>
            <a:ext cx="1203071" cy="1870314"/>
          </a:xfrm>
          <a:prstGeom prst="curvedConnector4">
            <a:avLst>
              <a:gd name="adj1" fmla="val -19001"/>
              <a:gd name="adj2" fmla="val 5474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xmlns="" id="{0C0192F6-521A-E899-43BB-8C35E71B29E6}"/>
              </a:ext>
            </a:extLst>
          </p:cNvPr>
          <p:cNvSpPr/>
          <p:nvPr/>
        </p:nvSpPr>
        <p:spPr>
          <a:xfrm>
            <a:off x="6981694" y="4601056"/>
            <a:ext cx="1653586" cy="354701"/>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Check Collision</a:t>
            </a:r>
          </a:p>
        </p:txBody>
      </p:sp>
      <p:sp>
        <p:nvSpPr>
          <p:cNvPr id="91" name="Rectangle 90">
            <a:extLst>
              <a:ext uri="{FF2B5EF4-FFF2-40B4-BE49-F238E27FC236}">
                <a16:creationId xmlns:a16="http://schemas.microsoft.com/office/drawing/2014/main" xmlns="" id="{E76EDF81-966E-2315-E8FD-996BC6E7654B}"/>
              </a:ext>
            </a:extLst>
          </p:cNvPr>
          <p:cNvSpPr/>
          <p:nvPr/>
        </p:nvSpPr>
        <p:spPr>
          <a:xfrm>
            <a:off x="6981693" y="5206348"/>
            <a:ext cx="1653586" cy="354701"/>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Check </a:t>
            </a:r>
            <a:r>
              <a:rPr lang="en-IN" dirty="0" err="1">
                <a:solidFill>
                  <a:schemeClr val="tx1"/>
                </a:solidFill>
              </a:rPr>
              <a:t>Blitting</a:t>
            </a:r>
            <a:endParaRPr lang="en-IN" dirty="0">
              <a:solidFill>
                <a:schemeClr val="tx1"/>
              </a:solidFill>
            </a:endParaRPr>
          </a:p>
        </p:txBody>
      </p:sp>
      <p:sp>
        <p:nvSpPr>
          <p:cNvPr id="92" name="Rectangle 91">
            <a:extLst>
              <a:ext uri="{FF2B5EF4-FFF2-40B4-BE49-F238E27FC236}">
                <a16:creationId xmlns:a16="http://schemas.microsoft.com/office/drawing/2014/main" xmlns="" id="{2FF2EC47-665E-0968-102F-23ED84D0A43F}"/>
              </a:ext>
            </a:extLst>
          </p:cNvPr>
          <p:cNvSpPr/>
          <p:nvPr/>
        </p:nvSpPr>
        <p:spPr>
          <a:xfrm>
            <a:off x="6981694" y="5791421"/>
            <a:ext cx="1669901" cy="354701"/>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Main Loops</a:t>
            </a:r>
          </a:p>
        </p:txBody>
      </p:sp>
      <p:cxnSp>
        <p:nvCxnSpPr>
          <p:cNvPr id="93" name="Connector: Curved 92">
            <a:extLst>
              <a:ext uri="{FF2B5EF4-FFF2-40B4-BE49-F238E27FC236}">
                <a16:creationId xmlns:a16="http://schemas.microsoft.com/office/drawing/2014/main" xmlns="" id="{265A5FA6-6D1D-2114-EBDB-BF1FB8F926BE}"/>
              </a:ext>
            </a:extLst>
          </p:cNvPr>
          <p:cNvCxnSpPr>
            <a:cxnSpLocks/>
            <a:stCxn id="45" idx="6"/>
            <a:endCxn id="91" idx="1"/>
          </p:cNvCxnSpPr>
          <p:nvPr/>
        </p:nvCxnSpPr>
        <p:spPr>
          <a:xfrm flipV="1">
            <a:off x="6108748" y="5383699"/>
            <a:ext cx="872945" cy="397301"/>
          </a:xfrm>
          <a:prstGeom prst="curved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4" name="Connector: Curved 93">
            <a:extLst>
              <a:ext uri="{FF2B5EF4-FFF2-40B4-BE49-F238E27FC236}">
                <a16:creationId xmlns:a16="http://schemas.microsoft.com/office/drawing/2014/main" xmlns="" id="{744C9392-2631-5BE3-05E1-C62637E450D5}"/>
              </a:ext>
            </a:extLst>
          </p:cNvPr>
          <p:cNvCxnSpPr>
            <a:cxnSpLocks/>
            <a:stCxn id="92" idx="1"/>
            <a:endCxn id="45" idx="6"/>
          </p:cNvCxnSpPr>
          <p:nvPr/>
        </p:nvCxnSpPr>
        <p:spPr>
          <a:xfrm rot="10800000">
            <a:off x="6108748" y="5781000"/>
            <a:ext cx="872946" cy="187772"/>
          </a:xfrm>
          <a:prstGeom prst="curved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5" name="Connector: Curved 94">
            <a:extLst>
              <a:ext uri="{FF2B5EF4-FFF2-40B4-BE49-F238E27FC236}">
                <a16:creationId xmlns:a16="http://schemas.microsoft.com/office/drawing/2014/main" xmlns="" id="{6CDC2556-12E8-78AB-A774-D329638BE0AC}"/>
              </a:ext>
            </a:extLst>
          </p:cNvPr>
          <p:cNvCxnSpPr>
            <a:cxnSpLocks/>
            <a:stCxn id="45" idx="6"/>
            <a:endCxn id="90" idx="1"/>
          </p:cNvCxnSpPr>
          <p:nvPr/>
        </p:nvCxnSpPr>
        <p:spPr>
          <a:xfrm flipV="1">
            <a:off x="6108748" y="4778407"/>
            <a:ext cx="872946" cy="1002593"/>
          </a:xfrm>
          <a:prstGeom prst="curved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31" name="Rectangle 130">
            <a:extLst>
              <a:ext uri="{FF2B5EF4-FFF2-40B4-BE49-F238E27FC236}">
                <a16:creationId xmlns:a16="http://schemas.microsoft.com/office/drawing/2014/main" xmlns="" id="{5087EB4E-ADF1-36A0-0D8A-1A720A57B24A}"/>
              </a:ext>
            </a:extLst>
          </p:cNvPr>
          <p:cNvSpPr/>
          <p:nvPr/>
        </p:nvSpPr>
        <p:spPr>
          <a:xfrm>
            <a:off x="64234" y="1751359"/>
            <a:ext cx="1221092" cy="548515"/>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Load Images</a:t>
            </a:r>
          </a:p>
        </p:txBody>
      </p:sp>
      <p:sp>
        <p:nvSpPr>
          <p:cNvPr id="162" name="Rectangle: Rounded Corners 161">
            <a:extLst>
              <a:ext uri="{FF2B5EF4-FFF2-40B4-BE49-F238E27FC236}">
                <a16:creationId xmlns:a16="http://schemas.microsoft.com/office/drawing/2014/main" xmlns="" id="{ECD327DB-1F32-C730-756F-744C9647D52F}"/>
              </a:ext>
            </a:extLst>
          </p:cNvPr>
          <p:cNvSpPr/>
          <p:nvPr/>
        </p:nvSpPr>
        <p:spPr>
          <a:xfrm>
            <a:off x="6573144" y="892687"/>
            <a:ext cx="878666" cy="2304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chemeClr val="tx1"/>
                </a:solidFill>
                <a:effectLst>
                  <a:outerShdw blurRad="38100" dist="19050" dir="2700000" algn="tl" rotWithShape="0">
                    <a:schemeClr val="dk1">
                      <a:alpha val="40000"/>
                    </a:schemeClr>
                  </a:outerShdw>
                </a:effectLst>
              </a:rPr>
              <a:t>Bird</a:t>
            </a:r>
          </a:p>
        </p:txBody>
      </p:sp>
      <p:sp>
        <p:nvSpPr>
          <p:cNvPr id="132" name="Rectangle 131">
            <a:extLst>
              <a:ext uri="{FF2B5EF4-FFF2-40B4-BE49-F238E27FC236}">
                <a16:creationId xmlns:a16="http://schemas.microsoft.com/office/drawing/2014/main" xmlns="" id="{EC12826F-BABB-1AE2-F949-4407533E1A80}"/>
              </a:ext>
            </a:extLst>
          </p:cNvPr>
          <p:cNvSpPr/>
          <p:nvPr/>
        </p:nvSpPr>
        <p:spPr>
          <a:xfrm>
            <a:off x="96199" y="2572708"/>
            <a:ext cx="1301310" cy="499216"/>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Transform Images</a:t>
            </a:r>
          </a:p>
        </p:txBody>
      </p:sp>
      <p:sp>
        <p:nvSpPr>
          <p:cNvPr id="163" name="Rectangle: Rounded Corners 162">
            <a:extLst>
              <a:ext uri="{FF2B5EF4-FFF2-40B4-BE49-F238E27FC236}">
                <a16:creationId xmlns:a16="http://schemas.microsoft.com/office/drawing/2014/main" xmlns="" id="{E6A17A9A-6AEB-1ED3-AE81-39ADB34C3E2C}"/>
              </a:ext>
            </a:extLst>
          </p:cNvPr>
          <p:cNvSpPr/>
          <p:nvPr/>
        </p:nvSpPr>
        <p:spPr>
          <a:xfrm>
            <a:off x="7052518" y="3483777"/>
            <a:ext cx="662972" cy="35470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Base</a:t>
            </a:r>
            <a:endParaRPr lang="en-IN" sz="1600" dirty="0">
              <a:solidFill>
                <a:schemeClr val="tx1"/>
              </a:solidFill>
            </a:endParaRPr>
          </a:p>
        </p:txBody>
      </p:sp>
      <p:sp>
        <p:nvSpPr>
          <p:cNvPr id="164" name="Rectangle: Rounded Corners 163">
            <a:extLst>
              <a:ext uri="{FF2B5EF4-FFF2-40B4-BE49-F238E27FC236}">
                <a16:creationId xmlns:a16="http://schemas.microsoft.com/office/drawing/2014/main" xmlns="" id="{05A363DB-5F87-6C0F-AA88-AA6C071DD3FF}"/>
              </a:ext>
            </a:extLst>
          </p:cNvPr>
          <p:cNvSpPr/>
          <p:nvPr/>
        </p:nvSpPr>
        <p:spPr>
          <a:xfrm>
            <a:off x="6783183" y="2443626"/>
            <a:ext cx="748736" cy="30121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Pipe</a:t>
            </a:r>
          </a:p>
        </p:txBody>
      </p:sp>
    </p:spTree>
    <p:extLst>
      <p:ext uri="{BB962C8B-B14F-4D97-AF65-F5344CB8AC3E}">
        <p14:creationId xmlns:p14="http://schemas.microsoft.com/office/powerpoint/2010/main" xmlns="" val="1788972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u="sng" dirty="0">
                <a:latin typeface="Times New Roman" pitchFamily="18" charset="0"/>
                <a:ea typeface="Calibri" pitchFamily="34" charset="0"/>
                <a:cs typeface="Times New Roman" pitchFamily="18" charset="0"/>
              </a:rPr>
              <a:t>Work Plan </a:t>
            </a:r>
            <a:r>
              <a:rPr lang="en-US" sz="2400" dirty="0">
                <a:latin typeface="Arial" pitchFamily="34" charset="0"/>
                <a:cs typeface="Arial" pitchFamily="34" charset="0"/>
              </a:rPr>
              <a:t/>
            </a:r>
            <a:br>
              <a:rPr lang="en-US" sz="2400" dirty="0">
                <a:latin typeface="Arial" pitchFamily="34" charset="0"/>
                <a:cs typeface="Arial" pitchFamily="34" charset="0"/>
              </a:rPr>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2846209768"/>
              </p:ext>
            </p:extLst>
          </p:nvPr>
        </p:nvGraphicFramePr>
        <p:xfrm>
          <a:off x="785786" y="1214420"/>
          <a:ext cx="6720549" cy="3960843"/>
        </p:xfrm>
        <a:graphic>
          <a:graphicData uri="http://schemas.openxmlformats.org/drawingml/2006/table">
            <a:tbl>
              <a:tblPr/>
              <a:tblGrid>
                <a:gridCol w="697361">
                  <a:extLst>
                    <a:ext uri="{9D8B030D-6E8A-4147-A177-3AD203B41FA5}">
                      <a16:colId xmlns:a16="http://schemas.microsoft.com/office/drawing/2014/main" xmlns="" val="20000"/>
                    </a:ext>
                  </a:extLst>
                </a:gridCol>
                <a:gridCol w="1752491">
                  <a:extLst>
                    <a:ext uri="{9D8B030D-6E8A-4147-A177-3AD203B41FA5}">
                      <a16:colId xmlns:a16="http://schemas.microsoft.com/office/drawing/2014/main" xmlns="" val="20001"/>
                    </a:ext>
                  </a:extLst>
                </a:gridCol>
                <a:gridCol w="1339456">
                  <a:extLst>
                    <a:ext uri="{9D8B030D-6E8A-4147-A177-3AD203B41FA5}">
                      <a16:colId xmlns:a16="http://schemas.microsoft.com/office/drawing/2014/main" xmlns="" val="20002"/>
                    </a:ext>
                  </a:extLst>
                </a:gridCol>
                <a:gridCol w="2931241">
                  <a:extLst>
                    <a:ext uri="{9D8B030D-6E8A-4147-A177-3AD203B41FA5}">
                      <a16:colId xmlns:a16="http://schemas.microsoft.com/office/drawing/2014/main" xmlns="" val="20003"/>
                    </a:ext>
                  </a:extLst>
                </a:gridCol>
              </a:tblGrid>
              <a:tr h="436566">
                <a:tc>
                  <a:txBody>
                    <a:bodyPr/>
                    <a:lstStyle/>
                    <a:p>
                      <a:pPr algn="just">
                        <a:lnSpc>
                          <a:spcPct val="115000"/>
                        </a:lnSpc>
                        <a:spcAft>
                          <a:spcPts val="0"/>
                        </a:spcAft>
                      </a:pPr>
                      <a:r>
                        <a:rPr lang="en-IN" sz="1200" dirty="0">
                          <a:latin typeface="Times New Roman"/>
                          <a:ea typeface="Calibri"/>
                          <a:cs typeface="Times New Roman"/>
                        </a:rPr>
                        <a:t>S.NO</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a:latin typeface="Calibri"/>
                          <a:ea typeface="Calibri"/>
                          <a:cs typeface="Times New Roman"/>
                        </a:rPr>
                        <a:t>Particulars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a:latin typeface="Times New Roman"/>
                          <a:ea typeface="Calibri"/>
                          <a:cs typeface="Times New Roman"/>
                        </a:rPr>
                        <a:t>Duration</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a:latin typeface="Times New Roman"/>
                          <a:ea typeface="Calibri"/>
                          <a:cs typeface="Times New Roman"/>
                        </a:rPr>
                        <a:t>Outcome</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1201950">
                <a:tc>
                  <a:txBody>
                    <a:bodyPr/>
                    <a:lstStyle/>
                    <a:p>
                      <a:pPr algn="just">
                        <a:lnSpc>
                          <a:spcPct val="115000"/>
                        </a:lnSpc>
                        <a:spcAft>
                          <a:spcPts val="0"/>
                        </a:spcAft>
                      </a:pPr>
                      <a:r>
                        <a:rPr lang="en-IN" sz="1200">
                          <a:latin typeface="Times New Roman"/>
                          <a:ea typeface="Calibri"/>
                          <a:cs typeface="Times New Roman"/>
                        </a:rPr>
                        <a:t>1</a:t>
                      </a:r>
                      <a:endParaRPr lang="en-IN" sz="11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a:latin typeface="Calibri"/>
                          <a:ea typeface="Calibri"/>
                          <a:cs typeface="Times New Roman"/>
                        </a:rPr>
                        <a:t>Welcome screen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a:latin typeface="Times New Roman"/>
                          <a:ea typeface="Calibri"/>
                          <a:cs typeface="Times New Roman"/>
                        </a:rPr>
                        <a:t>45 mins</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a:latin typeface="Times New Roman"/>
                          <a:ea typeface="Calibri"/>
                          <a:cs typeface="Times New Roman"/>
                        </a:rPr>
                        <a:t>The game should show a small perfect intro at the start of the game.</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576064">
                <a:tc>
                  <a:txBody>
                    <a:bodyPr/>
                    <a:lstStyle/>
                    <a:p>
                      <a:pPr algn="just">
                        <a:lnSpc>
                          <a:spcPct val="115000"/>
                        </a:lnSpc>
                        <a:spcAft>
                          <a:spcPts val="0"/>
                        </a:spcAft>
                      </a:pPr>
                      <a:r>
                        <a:rPr lang="en-IN" sz="1200" dirty="0">
                          <a:latin typeface="Times New Roman"/>
                          <a:ea typeface="Calibri"/>
                          <a:cs typeface="Times New Roman"/>
                        </a:rPr>
                        <a:t>2</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a:latin typeface="Times New Roman"/>
                          <a:ea typeface="Calibri"/>
                          <a:cs typeface="Times New Roman"/>
                        </a:rPr>
                        <a:t>Main game</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a:latin typeface="Calibri"/>
                          <a:ea typeface="Calibri"/>
                          <a:cs typeface="Times New Roman"/>
                        </a:rPr>
                        <a:t>4 – </a:t>
                      </a:r>
                      <a:r>
                        <a:rPr lang="en-IN" sz="1100">
                          <a:latin typeface="Calibri"/>
                          <a:ea typeface="Calibri"/>
                          <a:cs typeface="Times New Roman"/>
                        </a:rPr>
                        <a:t>5 days</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a:latin typeface="Times New Roman"/>
                          <a:ea typeface="Calibri"/>
                          <a:cs typeface="Times New Roman"/>
                        </a:rPr>
                        <a:t>The first appearance and positioning of every sprite of the game.</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436566">
                <a:tc>
                  <a:txBody>
                    <a:bodyPr/>
                    <a:lstStyle/>
                    <a:p>
                      <a:pPr algn="just">
                        <a:lnSpc>
                          <a:spcPct val="115000"/>
                        </a:lnSpc>
                        <a:spcAft>
                          <a:spcPts val="0"/>
                        </a:spcAft>
                      </a:pPr>
                      <a:r>
                        <a:rPr lang="en-IN" sz="1200" dirty="0">
                          <a:latin typeface="Times New Roman"/>
                          <a:ea typeface="Calibri"/>
                          <a:cs typeface="Times New Roman"/>
                        </a:rPr>
                        <a:t>3</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a:latin typeface="Calibri"/>
                          <a:ea typeface="Calibri"/>
                          <a:cs typeface="Times New Roman"/>
                        </a:rPr>
                        <a:t>Collision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a:latin typeface="Calibri"/>
                          <a:ea typeface="Calibri"/>
                          <a:cs typeface="Times New Roman"/>
                        </a:rPr>
                        <a:t>2 days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a:latin typeface="Times New Roman"/>
                          <a:ea typeface="Calibri"/>
                          <a:cs typeface="Times New Roman"/>
                        </a:rPr>
                        <a:t>The collision of the bird if the bird touches any part of the pipe. </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873131">
                <a:tc>
                  <a:txBody>
                    <a:bodyPr/>
                    <a:lstStyle/>
                    <a:p>
                      <a:pPr algn="just">
                        <a:lnSpc>
                          <a:spcPct val="115000"/>
                        </a:lnSpc>
                        <a:spcAft>
                          <a:spcPts val="0"/>
                        </a:spcAft>
                      </a:pPr>
                      <a:r>
                        <a:rPr lang="en-IN" sz="1200" dirty="0">
                          <a:latin typeface="Times New Roman"/>
                          <a:ea typeface="Calibri"/>
                          <a:cs typeface="Times New Roman"/>
                        </a:rPr>
                        <a:t>4</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lang="en-IN" sz="1200" dirty="0">
                          <a:latin typeface="Times New Roman"/>
                          <a:ea typeface="Calibri"/>
                          <a:cs typeface="Times New Roman"/>
                        </a:rPr>
                        <a:t>Random pipe</a:t>
                      </a:r>
                      <a:endParaRPr lang="en-IN" sz="1100" dirty="0">
                        <a:latin typeface="+mn-lt"/>
                        <a:ea typeface="Calibri"/>
                        <a:cs typeface="Times New Roman"/>
                      </a:endParaRPr>
                    </a:p>
                    <a:p>
                      <a:pPr algn="just">
                        <a:lnSpc>
                          <a:spcPct val="115000"/>
                        </a:lnSpc>
                        <a:spcAft>
                          <a:spcPts val="0"/>
                        </a:spcAft>
                      </a:pP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a:latin typeface="Times New Roman"/>
                          <a:ea typeface="Calibri"/>
                          <a:cs typeface="Times New Roman"/>
                        </a:rPr>
                        <a:t>6 hours</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a:latin typeface="Times New Roman"/>
                          <a:ea typeface="Calibri"/>
                          <a:cs typeface="Times New Roman"/>
                        </a:rPr>
                        <a:t>The random generation and movement of pipe to which the bird will pass.</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436566">
                <a:tc>
                  <a:txBody>
                    <a:bodyPr/>
                    <a:lstStyle/>
                    <a:p>
                      <a:pPr algn="just">
                        <a:lnSpc>
                          <a:spcPct val="115000"/>
                        </a:lnSpc>
                        <a:spcAft>
                          <a:spcPts val="0"/>
                        </a:spcAft>
                      </a:pPr>
                      <a:r>
                        <a:rPr lang="en-IN" sz="1200" dirty="0">
                          <a:latin typeface="Times New Roman"/>
                          <a:ea typeface="Calibri"/>
                          <a:cs typeface="Times New Roman"/>
                        </a:rPr>
                        <a:t>5</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a:latin typeface="Times New Roman"/>
                          <a:ea typeface="Calibri"/>
                          <a:cs typeface="Times New Roman"/>
                        </a:rPr>
                        <a:t>Initialisation of all python modules</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200" dirty="0">
                          <a:latin typeface="Times New Roman"/>
                          <a:ea typeface="Calibri"/>
                          <a:cs typeface="Times New Roman"/>
                        </a:rPr>
                        <a:t>30 mins</a:t>
                      </a:r>
                      <a:endParaRPr lang="en-IN" sz="11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100" dirty="0">
                          <a:latin typeface="Calibri"/>
                          <a:ea typeface="Calibri"/>
                          <a:cs typeface="Times New Roman"/>
                        </a:rPr>
                        <a:t>The resources of the game will start to</a:t>
                      </a:r>
                      <a:r>
                        <a:rPr lang="en-IN" sz="1100" baseline="0" dirty="0">
                          <a:latin typeface="Calibri"/>
                          <a:ea typeface="Calibri"/>
                          <a:cs typeface="Times New Roman"/>
                        </a:rPr>
                        <a:t> call the functions </a:t>
                      </a:r>
                      <a:r>
                        <a:rPr lang="en-IN" sz="1100" dirty="0">
                          <a:latin typeface="Calibri"/>
                          <a:ea typeface="Calibri"/>
                          <a:cs typeface="Times New Roman"/>
                        </a:rPr>
                        <a:t>as per the code.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xmlns="" val="2762259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Expected Outcomes</a:t>
            </a:r>
            <a:endParaRPr lang="en-GB" dirty="0"/>
          </a:p>
        </p:txBody>
      </p:sp>
      <p:sp>
        <p:nvSpPr>
          <p:cNvPr id="3" name="Content Placeholder 2"/>
          <p:cNvSpPr>
            <a:spLocks noGrp="1"/>
          </p:cNvSpPr>
          <p:nvPr>
            <p:ph idx="1"/>
          </p:nvPr>
        </p:nvSpPr>
        <p:spPr/>
        <p:txBody>
          <a:bodyPr>
            <a:normAutofit fontScale="40000" lnSpcReduction="20000"/>
          </a:bodyPr>
          <a:lstStyle/>
          <a:p>
            <a:r>
              <a:rPr lang="en-GB" sz="5100" dirty="0"/>
              <a:t>The game must not crash at any moment.</a:t>
            </a:r>
          </a:p>
          <a:p>
            <a:endParaRPr lang="en-GB" sz="5100" dirty="0"/>
          </a:p>
          <a:p>
            <a:r>
              <a:rPr lang="en-GB" sz="5100" dirty="0"/>
              <a:t>Avatar must not glitch at any place.</a:t>
            </a:r>
          </a:p>
          <a:p>
            <a:endParaRPr lang="en-GB" sz="5100" dirty="0"/>
          </a:p>
          <a:p>
            <a:r>
              <a:rPr lang="en-GB" sz="5100" dirty="0"/>
              <a:t>The random pipes generated must not locate at unrequired coordinate.</a:t>
            </a:r>
          </a:p>
          <a:p>
            <a:endParaRPr lang="en-GB" sz="5100" dirty="0"/>
          </a:p>
          <a:p>
            <a:r>
              <a:rPr lang="en-GB" sz="5100" dirty="0"/>
              <a:t>The sprites </a:t>
            </a:r>
            <a:r>
              <a:rPr lang="en-GB" sz="5100" dirty="0" err="1"/>
              <a:t>blitting</a:t>
            </a:r>
            <a:r>
              <a:rPr lang="en-GB" sz="5100" dirty="0"/>
              <a:t> should not be irregular.</a:t>
            </a:r>
          </a:p>
          <a:p>
            <a:endParaRPr lang="en-GB" sz="5100" dirty="0"/>
          </a:p>
          <a:p>
            <a:r>
              <a:rPr lang="en-GB" sz="5100" dirty="0"/>
              <a:t>The distance between each pipe should be same.</a:t>
            </a:r>
          </a:p>
          <a:p>
            <a:endParaRPr lang="en-GB" sz="2400" dirty="0"/>
          </a:p>
          <a:p>
            <a:pPr marL="0" indent="0">
              <a:buNone/>
            </a:pPr>
            <a:endParaRPr lang="en-GB" sz="2400" dirty="0"/>
          </a:p>
          <a:p>
            <a:endParaRPr lang="en-GB" sz="2400" dirty="0"/>
          </a:p>
          <a:p>
            <a:pPr marL="0" indent="0">
              <a:buNone/>
            </a:pPr>
            <a:endParaRPr lang="en-GB" sz="2400" dirty="0"/>
          </a:p>
          <a:p>
            <a:pPr marL="0" indent="0">
              <a:buNone/>
            </a:pPr>
            <a:r>
              <a:rPr lang="en-GB" sz="2400" dirty="0"/>
              <a:t> +</a:t>
            </a:r>
          </a:p>
        </p:txBody>
      </p:sp>
    </p:spTree>
    <p:extLst>
      <p:ext uri="{BB962C8B-B14F-4D97-AF65-F5344CB8AC3E}">
        <p14:creationId xmlns:p14="http://schemas.microsoft.com/office/powerpoint/2010/main" xmlns="" val="1499061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a:t>
            </a:r>
            <a:endParaRPr lang="en-GB" dirty="0"/>
          </a:p>
        </p:txBody>
      </p:sp>
      <p:sp>
        <p:nvSpPr>
          <p:cNvPr id="3" name="Content Placeholder 2"/>
          <p:cNvSpPr>
            <a:spLocks noGrp="1"/>
          </p:cNvSpPr>
          <p:nvPr>
            <p:ph idx="1"/>
          </p:nvPr>
        </p:nvSpPr>
        <p:spPr/>
        <p:txBody>
          <a:bodyPr/>
          <a:lstStyle/>
          <a:p>
            <a:r>
              <a:rPr lang="en-IN" b="1" i="0" dirty="0">
                <a:effectLst/>
                <a:latin typeface="Söhne"/>
              </a:rPr>
              <a:t>Game Development</a:t>
            </a:r>
          </a:p>
          <a:p>
            <a:r>
              <a:rPr lang="en-IN" b="1" dirty="0">
                <a:latin typeface="Söhne"/>
              </a:rPr>
              <a:t>Educational Purposes</a:t>
            </a:r>
          </a:p>
          <a:p>
            <a:r>
              <a:rPr lang="en-IN" b="1" i="0" dirty="0">
                <a:effectLst/>
                <a:latin typeface="Söhne"/>
              </a:rPr>
              <a:t>Simulations and Visualizations</a:t>
            </a:r>
          </a:p>
          <a:p>
            <a:r>
              <a:rPr lang="en-IN" b="1" i="0" dirty="0">
                <a:effectLst/>
                <a:latin typeface="Söhne"/>
              </a:rPr>
              <a:t>Multimedia Applications</a:t>
            </a:r>
            <a:endParaRPr lang="en-IN" b="1" dirty="0">
              <a:latin typeface="Söhne"/>
            </a:endParaRPr>
          </a:p>
          <a:p>
            <a:r>
              <a:rPr lang="en-IN" b="1" i="0" dirty="0">
                <a:effectLst/>
                <a:latin typeface="Söhne"/>
              </a:rPr>
              <a:t>Art and Music Projects</a:t>
            </a:r>
          </a:p>
          <a:p>
            <a:r>
              <a:rPr lang="en-IN" b="1" i="0" dirty="0">
                <a:effectLst/>
                <a:latin typeface="Söhne"/>
              </a:rPr>
              <a:t>GUI Applications</a:t>
            </a:r>
            <a:endParaRPr lang="en-US" dirty="0"/>
          </a:p>
          <a:p>
            <a:endParaRPr lang="en-GB" dirty="0"/>
          </a:p>
        </p:txBody>
      </p:sp>
    </p:spTree>
    <p:extLst>
      <p:ext uri="{BB962C8B-B14F-4D97-AF65-F5344CB8AC3E}">
        <p14:creationId xmlns:p14="http://schemas.microsoft.com/office/powerpoint/2010/main" xmlns="" val="510431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 </a:t>
            </a:r>
          </a:p>
        </p:txBody>
      </p:sp>
      <p:sp>
        <p:nvSpPr>
          <p:cNvPr id="3" name="Content Placeholder 2"/>
          <p:cNvSpPr>
            <a:spLocks noGrp="1"/>
          </p:cNvSpPr>
          <p:nvPr>
            <p:ph idx="1"/>
          </p:nvPr>
        </p:nvSpPr>
        <p:spPr/>
        <p:txBody>
          <a:bodyPr>
            <a:normAutofit/>
          </a:bodyPr>
          <a:lstStyle/>
          <a:p>
            <a:pPr algn="just"/>
            <a:r>
              <a:rPr lang="en-IN" sz="2000" dirty="0"/>
              <a:t>In conclusion, the </a:t>
            </a:r>
            <a:r>
              <a:rPr lang="en-IN" sz="2000" dirty="0" err="1"/>
              <a:t>Flappy</a:t>
            </a:r>
            <a:r>
              <a:rPr lang="en-IN" sz="2000" dirty="0"/>
              <a:t> Bird Project demonstrated the successful development of a classic game while laying the groundwork for future enhancements. The game's simplicity and appeal were highlighted, and avenues for future improvements were discussed. The project not only served as an exploration of game development but also as a springboard for potential innovations and expansions</a:t>
            </a:r>
          </a:p>
          <a:p>
            <a:pPr>
              <a:buNone/>
            </a:pPr>
            <a:endParaRPr lang="en-IN" sz="2000" dirty="0"/>
          </a:p>
          <a:p>
            <a:pPr algn="just"/>
            <a:r>
              <a:rPr lang="en-IN" sz="2000" dirty="0"/>
              <a:t>Recommendations for future work include enhancing graphics, exploring multi-platform support, incorporating additional game features, and integrating online elements such as </a:t>
            </a:r>
            <a:r>
              <a:rPr lang="en-IN" sz="2000" dirty="0" err="1"/>
              <a:t>leaderboards</a:t>
            </a:r>
            <a:r>
              <a:rPr lang="en-IN" sz="2000" dirty="0"/>
              <a:t> and social media interaction. These suggestions aim to elevate the gaming experience and broaden the project's scope.</a:t>
            </a:r>
          </a:p>
          <a:p>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Autofit/>
          </a:bodyPr>
          <a:lstStyle/>
          <a:p>
            <a:r>
              <a:rPr lang="en-IN" sz="2000" dirty="0"/>
              <a:t>The project was created upon a variety of references, including academic literature, programming documentation, and relevant online resources, ensuring a well-informed development approach.</a:t>
            </a:r>
          </a:p>
          <a:p>
            <a:pPr>
              <a:buNone/>
            </a:pPr>
            <a:endParaRPr lang="en-IN" sz="2000" dirty="0"/>
          </a:p>
          <a:p>
            <a:pPr>
              <a:buNone/>
            </a:pPr>
            <a:r>
              <a:rPr lang="en-IN" sz="2000" b="1" u="sng" dirty="0">
                <a:hlinkClick r:id="rId2"/>
              </a:rPr>
              <a:t>https://pngtree.com/so/1-to-10</a:t>
            </a:r>
            <a:endParaRPr lang="en-IN" sz="2000" dirty="0"/>
          </a:p>
          <a:p>
            <a:pPr>
              <a:buNone/>
            </a:pPr>
            <a:r>
              <a:rPr lang="en-IN" sz="2000" b="1" u="sng" dirty="0">
                <a:hlinkClick r:id="rId3"/>
              </a:rPr>
              <a:t>https://www.freepik.com/free-photos-vectors/game-background</a:t>
            </a:r>
            <a:endParaRPr lang="en-IN" sz="2000" b="1" u="sng" dirty="0"/>
          </a:p>
          <a:p>
            <a:pPr>
              <a:buNone/>
            </a:pPr>
            <a:r>
              <a:rPr lang="en-IN" sz="2000" b="1" u="sng" dirty="0">
                <a:hlinkClick r:id="rId4"/>
              </a:rPr>
              <a:t>https://www.zapsplat.com/sound-effect-category/game-sounds/</a:t>
            </a:r>
            <a:endParaRPr lang="en-IN" sz="2000" dirty="0"/>
          </a:p>
          <a:p>
            <a:pPr>
              <a:buNone/>
            </a:pPr>
            <a:r>
              <a:rPr lang="en-IN" sz="1800" b="1" u="sng" dirty="0">
                <a:hlinkClick r:id="rId5"/>
              </a:rPr>
              <a:t>https://studio.youtube.com/channel/UC-PYa26rN_bbQZgNRmIYqTQ/music</a:t>
            </a:r>
            <a:endParaRPr lang="en-IN" sz="1800" dirty="0"/>
          </a:p>
          <a:p>
            <a:pPr>
              <a:buNone/>
            </a:pPr>
            <a:r>
              <a:rPr lang="en-IN" sz="2000" b="1" u="sng" dirty="0">
                <a:hlinkClick r:id="rId6"/>
              </a:rPr>
              <a:t>https://www.pngwing.com/en/search?q=birds</a:t>
            </a:r>
            <a:endParaRPr lang="en-IN" sz="2000" dirty="0"/>
          </a:p>
          <a:p>
            <a:pPr>
              <a:buNone/>
            </a:pPr>
            <a:r>
              <a:rPr lang="en-IN" sz="2000" b="1" u="sng" dirty="0">
                <a:hlinkClick r:id="rId7"/>
              </a:rPr>
              <a:t>https://ieeexplore.ieee.org/document/8924807</a:t>
            </a:r>
            <a:endParaRPr lang="en-IN" sz="2000" dirty="0"/>
          </a:p>
          <a:p>
            <a:pPr>
              <a:buNone/>
            </a:pPr>
            <a:r>
              <a:rPr lang="en-IN" sz="2000" b="1" u="sng" dirty="0">
                <a:hlinkClick r:id="rId8"/>
              </a:rPr>
              <a:t>https://ieeexplore.ieee.org/document/9763893</a:t>
            </a:r>
            <a:endParaRPr lang="en-IN" sz="2000" dirty="0"/>
          </a:p>
          <a:p>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1314</TotalTime>
  <Words>1369</Words>
  <Application>Microsoft Office PowerPoint</Application>
  <PresentationFormat>On-screen Show (4:3)</PresentationFormat>
  <Paragraphs>195</Paragraphs>
  <Slides>19</Slides>
  <Notes>3</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   ORIENTAL COLLEGE OF TECHNOLOGY BHOPAL (M.P.) </vt:lpstr>
      <vt:lpstr>Contents</vt:lpstr>
      <vt:lpstr>Introduction</vt:lpstr>
      <vt:lpstr>Literature Review</vt:lpstr>
      <vt:lpstr>Template for Literature Review</vt:lpstr>
      <vt:lpstr>Slide 6</vt:lpstr>
      <vt:lpstr>Slide 7</vt:lpstr>
      <vt:lpstr>Slide 8</vt:lpstr>
      <vt:lpstr>Slide 9</vt:lpstr>
      <vt:lpstr> Objective  </vt:lpstr>
      <vt:lpstr>‘isCollide()’ Function</vt:lpstr>
      <vt:lpstr>‘welcomescreen()’ Function</vt:lpstr>
      <vt:lpstr>Technology Used</vt:lpstr>
      <vt:lpstr>   Proposed Methodology</vt:lpstr>
      <vt:lpstr>Work Plan  </vt:lpstr>
      <vt:lpstr>Expected Outcomes</vt:lpstr>
      <vt:lpstr>Applications</vt:lpstr>
      <vt:lpstr>Conclusion </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NRI Institute of Information Science &amp; Technology Bhopal (M.P.)</dc:title>
  <dc:creator>Toshiba</dc:creator>
  <cp:lastModifiedBy>Vivek Waryani</cp:lastModifiedBy>
  <cp:revision>56</cp:revision>
  <dcterms:created xsi:type="dcterms:W3CDTF">2013-01-10T05:52:29Z</dcterms:created>
  <dcterms:modified xsi:type="dcterms:W3CDTF">2023-11-30T08:52:54Z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2023-11-24T18:05:43Z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6dade7f0-4cf2-45bd-ad9e-9ac733d19f9e</vt:lpwstr>
  </property>
  <property fmtid="{D5CDD505-2E9C-101B-9397-08002B2CF9AE}" pid="7" name="MSIP_Label_defa4170-0d19-0005-0004-bc88714345d2_ActionId">
    <vt:lpwstr>9c609240-79a8-45d4-9b31-f39a5c177077</vt:lpwstr>
  </property>
  <property fmtid="{D5CDD505-2E9C-101B-9397-08002B2CF9AE}" pid="8" name="MSIP_Label_defa4170-0d19-0005-0004-bc88714345d2_ContentBits">
    <vt:lpwstr>0</vt:lpwstr>
  </property>
</Properties>
</file>