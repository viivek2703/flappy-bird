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58" r:id="rId4"/>
    <p:sldId id="269" r:id="rId5"/>
    <p:sldId id="259" r:id="rId6"/>
    <p:sldId id="263" r:id="rId7"/>
    <p:sldId id="260" r:id="rId8"/>
    <p:sldId id="261" r:id="rId9"/>
    <p:sldId id="267" r:id="rId10"/>
    <p:sldId id="268" r:id="rId11"/>
    <p:sldId id="270" r:id="rId12"/>
    <p:sldId id="273" r:id="rId13"/>
    <p:sldId id="271" r:id="rId14"/>
    <p:sldId id="272" r:id="rId15"/>
    <p:sldId id="275" r:id="rId16"/>
    <p:sldId id="265" r:id="rId17"/>
    <p:sldId id="274" r:id="rId18"/>
    <p:sldId id="276" r:id="rId19"/>
    <p:sldId id="277" r:id="rId20"/>
    <p:sldId id="26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6BB4-39F4-4292-8293-6CC04664DC04}" type="datetimeFigureOut">
              <a:rPr lang="en-US" smtClean="0"/>
              <a:pPr/>
              <a:t>8/27/2021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243-288C-419F-B209-699AD149C93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6BB4-39F4-4292-8293-6CC04664DC04}" type="datetimeFigureOut">
              <a:rPr lang="en-US" smtClean="0"/>
              <a:pPr/>
              <a:t>8/27/2021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243-288C-419F-B209-699AD149C93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6BB4-39F4-4292-8293-6CC04664DC04}" type="datetimeFigureOut">
              <a:rPr lang="en-US" smtClean="0"/>
              <a:pPr/>
              <a:t>8/27/2021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243-288C-419F-B209-699AD149C93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6BB4-39F4-4292-8293-6CC04664DC04}" type="datetimeFigureOut">
              <a:rPr lang="en-US" smtClean="0"/>
              <a:pPr/>
              <a:t>8/27/2021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243-288C-419F-B209-699AD149C93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6BB4-39F4-4292-8293-6CC04664DC04}" type="datetimeFigureOut">
              <a:rPr lang="en-US" smtClean="0"/>
              <a:pPr/>
              <a:t>8/27/2021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243-288C-419F-B209-699AD149C93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6BB4-39F4-4292-8293-6CC04664DC04}" type="datetimeFigureOut">
              <a:rPr lang="en-US" smtClean="0"/>
              <a:pPr/>
              <a:t>8/27/2021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243-288C-419F-B209-699AD149C93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6BB4-39F4-4292-8293-6CC04664DC04}" type="datetimeFigureOut">
              <a:rPr lang="en-US" smtClean="0"/>
              <a:pPr/>
              <a:t>8/27/2021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243-288C-419F-B209-699AD149C93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6BB4-39F4-4292-8293-6CC04664DC04}" type="datetimeFigureOut">
              <a:rPr lang="en-US" smtClean="0"/>
              <a:pPr/>
              <a:t>8/27/2021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243-288C-419F-B209-699AD149C93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6BB4-39F4-4292-8293-6CC04664DC04}" type="datetimeFigureOut">
              <a:rPr lang="en-US" smtClean="0"/>
              <a:pPr/>
              <a:t>8/27/2021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243-288C-419F-B209-699AD149C93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6BB4-39F4-4292-8293-6CC04664DC04}" type="datetimeFigureOut">
              <a:rPr lang="en-US" smtClean="0"/>
              <a:pPr/>
              <a:t>8/27/2021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243-288C-419F-B209-699AD149C93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6BB4-39F4-4292-8293-6CC04664DC04}" type="datetimeFigureOut">
              <a:rPr lang="en-US" smtClean="0"/>
              <a:pPr/>
              <a:t>8/27/2021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4E243-288C-419F-B209-699AD149C93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A6BB4-39F4-4292-8293-6CC04664DC04}" type="datetimeFigureOut">
              <a:rPr lang="en-US" smtClean="0"/>
              <a:pPr/>
              <a:t>8/27/2021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4E243-288C-419F-B209-699AD149C937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643182"/>
            <a:ext cx="8229600" cy="1143000"/>
          </a:xfrm>
        </p:spPr>
        <p:txBody>
          <a:bodyPr/>
          <a:lstStyle/>
          <a:p>
            <a:r>
              <a:rPr lang="en-US" smtClean="0"/>
              <a:t>Annexure I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4282" y="285728"/>
            <a:ext cx="8929718" cy="990600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 b="1" dirty="0" smtClean="0"/>
              <a:t> </a:t>
            </a:r>
            <a:br>
              <a:rPr lang="en-US" sz="2400" b="1" dirty="0" smtClean="0"/>
            </a:b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3100" b="1" dirty="0" smtClean="0"/>
              <a:t>ORIENTAL COLLEGE OF TECHNOLOGY</a:t>
            </a:r>
            <a:br>
              <a:rPr lang="en-US" sz="3100" b="1" dirty="0" smtClean="0"/>
            </a:br>
            <a:r>
              <a:rPr lang="en-US" sz="3100" b="1" dirty="0" smtClean="0"/>
              <a:t>BHOPAL (M.P.)</a:t>
            </a:r>
            <a:br>
              <a:rPr lang="en-US" sz="3100" b="1" dirty="0" smtClean="0"/>
            </a:br>
            <a:endParaRPr lang="en-US" sz="2400" b="1" dirty="0" smtClean="0">
              <a:solidFill>
                <a:srgbClr val="FF0066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00034" y="1219200"/>
            <a:ext cx="8429684" cy="5334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</a:pPr>
            <a:endParaRPr lang="en-US" sz="2000" b="1" dirty="0" smtClean="0"/>
          </a:p>
          <a:p>
            <a:pPr eaLnBrk="1" hangingPunct="1">
              <a:lnSpc>
                <a:spcPct val="80000"/>
              </a:lnSpc>
            </a:pPr>
            <a:r>
              <a:rPr lang="en-US" sz="2000" b="1" dirty="0" smtClean="0"/>
              <a:t>“</a:t>
            </a:r>
            <a:r>
              <a:rPr lang="en-US" sz="2800" b="1" dirty="0" smtClean="0"/>
              <a:t>Name of the Department</a:t>
            </a:r>
            <a:r>
              <a:rPr lang="en-US" sz="2000" b="1" dirty="0" smtClean="0"/>
              <a:t>”</a:t>
            </a:r>
          </a:p>
          <a:p>
            <a:pPr eaLnBrk="1" hangingPunct="1">
              <a:lnSpc>
                <a:spcPct val="80000"/>
              </a:lnSpc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</a:pPr>
            <a:r>
              <a:rPr lang="en-US" sz="2000" dirty="0" smtClean="0"/>
              <a:t>Minor/Major Project Progress </a:t>
            </a:r>
            <a:r>
              <a:rPr lang="en-US" sz="2000" dirty="0" smtClean="0"/>
              <a:t>Presentation II</a:t>
            </a:r>
            <a:endParaRPr lang="en-US" sz="2000" dirty="0" smtClean="0"/>
          </a:p>
          <a:p>
            <a:pPr eaLnBrk="1" hangingPunct="1">
              <a:lnSpc>
                <a:spcPct val="80000"/>
              </a:lnSpc>
            </a:pPr>
            <a:r>
              <a:rPr lang="en-US" sz="2000" dirty="0" smtClean="0"/>
              <a:t>On</a:t>
            </a:r>
            <a:endParaRPr lang="en-US" sz="2000" b="1" dirty="0" smtClean="0">
              <a:solidFill>
                <a:srgbClr val="FF0066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b="1" dirty="0" smtClean="0">
                <a:solidFill>
                  <a:srgbClr val="FF0066"/>
                </a:solidFill>
              </a:rPr>
              <a:t>“Title of Minor/Major Project ”</a:t>
            </a:r>
            <a:endParaRPr lang="en-US" sz="2000" b="1" dirty="0" smtClean="0">
              <a:solidFill>
                <a:srgbClr val="FF0066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b="1" dirty="0" smtClean="0">
                <a:solidFill>
                  <a:srgbClr val="FF0066"/>
                </a:solidFill>
              </a:rPr>
              <a:t>Date </a:t>
            </a:r>
          </a:p>
          <a:p>
            <a:pPr eaLnBrk="1" hangingPunct="1">
              <a:lnSpc>
                <a:spcPct val="80000"/>
              </a:lnSpc>
            </a:pPr>
            <a:endParaRPr lang="en-US" sz="2000" b="1" dirty="0" smtClean="0">
              <a:solidFill>
                <a:srgbClr val="FF0066"/>
              </a:solidFill>
            </a:endParaRPr>
          </a:p>
          <a:p>
            <a:pPr algn="l" eaLnBrk="1" hangingPunct="1">
              <a:lnSpc>
                <a:spcPct val="80000"/>
              </a:lnSpc>
            </a:pPr>
            <a:endParaRPr lang="en-US" sz="2000" dirty="0" smtClean="0">
              <a:solidFill>
                <a:schemeClr val="accent2"/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 sz="1800" b="1" dirty="0" smtClean="0">
                <a:solidFill>
                  <a:schemeClr val="tx1"/>
                </a:solidFill>
              </a:rPr>
              <a:t>Guided by					</a:t>
            </a: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Presented by:</a:t>
            </a:r>
          </a:p>
          <a:p>
            <a:pPr algn="l">
              <a:lnSpc>
                <a:spcPct val="80000"/>
              </a:lnSpc>
            </a:pPr>
            <a:r>
              <a:rPr lang="en-US" sz="1800" b="1" dirty="0" smtClean="0">
                <a:solidFill>
                  <a:schemeClr val="tx1"/>
                </a:solidFill>
              </a:rPr>
              <a:t>Name of Guide/Co-Guide				</a:t>
            </a: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Name </a:t>
            </a: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of Student</a:t>
            </a:r>
          </a:p>
          <a:p>
            <a:pPr algn="l">
              <a:lnSpc>
                <a:spcPct val="80000"/>
              </a:lnSpc>
            </a:pPr>
            <a:r>
              <a:rPr lang="en-US" sz="1800" b="1" dirty="0" smtClean="0">
                <a:solidFill>
                  <a:schemeClr val="tx1"/>
                </a:solidFill>
              </a:rPr>
              <a:t>Designation					</a:t>
            </a: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“Enrollment No.”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340768"/>
            <a:ext cx="1181641" cy="1186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77500" lnSpcReduction="20000"/>
          </a:bodyPr>
          <a:lstStyle/>
          <a:p>
            <a:pPr lvl="2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Literature Review</a:t>
            </a:r>
          </a:p>
          <a:p>
            <a:pPr lvl="2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Objective </a:t>
            </a:r>
          </a:p>
          <a:p>
            <a:pPr lvl="2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Work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Plan &amp; Technology used</a:t>
            </a:r>
          </a:p>
          <a:p>
            <a:pPr lvl="2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Circuit Diagram &amp; Description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Proposed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Methodology/Algorithm</a:t>
            </a:r>
          </a:p>
          <a:p>
            <a:pPr lvl="2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Development stages Photographs</a:t>
            </a:r>
          </a:p>
          <a:p>
            <a:pPr lvl="2" eaLnBrk="1" hangingPunct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Testing of Project &amp; standard results</a:t>
            </a:r>
          </a:p>
          <a:p>
            <a:pPr lvl="2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Results &amp; Discussions</a:t>
            </a:r>
          </a:p>
          <a:p>
            <a:pPr lvl="2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Conclusions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Project photograph with team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Bills of Material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References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sz="2800" dirty="0" smtClean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Literature Review(For reference see Template)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Topics to be covered </a:t>
            </a:r>
          </a:p>
          <a:p>
            <a:pPr lvl="1"/>
            <a:r>
              <a:rPr lang="en-US" dirty="0" smtClean="0"/>
              <a:t>Problems </a:t>
            </a:r>
            <a:r>
              <a:rPr lang="en-US" dirty="0" smtClean="0"/>
              <a:t>statement</a:t>
            </a:r>
            <a:endParaRPr lang="en-US" dirty="0" smtClean="0"/>
          </a:p>
          <a:p>
            <a:pPr lvl="1"/>
            <a:r>
              <a:rPr lang="en-US" dirty="0" smtClean="0"/>
              <a:t>Methodology used</a:t>
            </a:r>
          </a:p>
          <a:p>
            <a:pPr lvl="1"/>
            <a:r>
              <a:rPr lang="en-US" dirty="0" smtClean="0"/>
              <a:t>Simulation parameter used</a:t>
            </a:r>
          </a:p>
          <a:p>
            <a:pPr lvl="1"/>
            <a:r>
              <a:rPr lang="en-US" dirty="0" smtClean="0"/>
              <a:t>Tools / language/simulation enviornment</a:t>
            </a:r>
          </a:p>
          <a:p>
            <a:pPr lvl="1"/>
            <a:r>
              <a:rPr lang="en-US" dirty="0" smtClean="0"/>
              <a:t>Advantages/disadvantages</a:t>
            </a:r>
          </a:p>
          <a:p>
            <a:pPr lvl="1"/>
            <a:r>
              <a:rPr lang="en-US" dirty="0" smtClean="0"/>
              <a:t>Conclusion/results based on used parameter</a:t>
            </a:r>
          </a:p>
          <a:p>
            <a:pPr lvl="1"/>
            <a:r>
              <a:rPr lang="en-US" dirty="0" smtClean="0"/>
              <a:t>Future scope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Template for Literature Review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Luo</a:t>
            </a:r>
            <a:r>
              <a:rPr lang="en-US" dirty="0" smtClean="0"/>
              <a:t>, Li and Yu [4] in year 2009 </a:t>
            </a:r>
          </a:p>
          <a:p>
            <a:r>
              <a:rPr lang="en-US" dirty="0" smtClean="0"/>
              <a:t>L. </a:t>
            </a:r>
            <a:r>
              <a:rPr lang="en-US" dirty="0" err="1" smtClean="0"/>
              <a:t>Wosinska</a:t>
            </a:r>
            <a:r>
              <a:rPr lang="en-US" dirty="0" smtClean="0"/>
              <a:t> et.al [20] in year 2004 studied/gave solution to/ problem…./ using this methodology…./which give the results like this……/ but having following advantages and disadvantages…./ the evaluation permanents used are this……/ future work as suggested by author or concluded in this paper is…….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algn="l"/>
            <a:r>
              <a:rPr lang="en-US" sz="3200" dirty="0" smtClean="0">
                <a:latin typeface="Times New Roman" pitchFamily="18" charset="0"/>
                <a:ea typeface="+mj-ea"/>
                <a:cs typeface="Times New Roman" pitchFamily="18" charset="0"/>
              </a:rPr>
              <a:t>GAP ANALYSIS</a:t>
            </a:r>
            <a:endParaRPr lang="en-US" sz="6600" kern="12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should be mentioned in Bullets/point wise including the following points:</a:t>
            </a:r>
          </a:p>
          <a:p>
            <a:pPr lvl="1"/>
            <a:r>
              <a:rPr lang="en-US" dirty="0" smtClean="0"/>
              <a:t>Research scope in each paper of literature as concluded by you</a:t>
            </a:r>
          </a:p>
          <a:p>
            <a:pPr lvl="1"/>
            <a:r>
              <a:rPr lang="en-US" dirty="0" smtClean="0"/>
              <a:t>Brief knowledge of research opportunities from studied literature</a:t>
            </a:r>
          </a:p>
          <a:p>
            <a:pPr lvl="1"/>
            <a:r>
              <a:rPr lang="en-US" dirty="0" smtClean="0"/>
              <a:t>Point wise discuss the research opportunities from referenced papers.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2" algn="l"/>
            <a:r>
              <a:rPr lang="en-US" sz="4000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Objective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Point wise discuss the objectives of the proposed research work.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Technology Used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973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Circuit Diagram &amp; Description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473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Methodology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8972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u="sng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Work Plan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400" dirty="0" smtClean="0">
                <a:latin typeface="Arial" pitchFamily="34" charset="0"/>
                <a:cs typeface="Arial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85786" y="1214420"/>
          <a:ext cx="6720549" cy="3929092"/>
        </p:xfrm>
        <a:graphic>
          <a:graphicData uri="http://schemas.openxmlformats.org/drawingml/2006/table">
            <a:tbl>
              <a:tblPr/>
              <a:tblGrid>
                <a:gridCol w="697361"/>
                <a:gridCol w="1752491"/>
                <a:gridCol w="1339456"/>
                <a:gridCol w="2931241"/>
              </a:tblGrid>
              <a:tr h="43656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latin typeface="Times New Roman"/>
                          <a:ea typeface="Calibri"/>
                          <a:cs typeface="Times New Roman"/>
                        </a:rPr>
                        <a:t>S.NO</a:t>
                      </a:r>
                      <a:endParaRPr lang="en-IN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 smtClean="0">
                          <a:latin typeface="Calibri"/>
                          <a:ea typeface="Calibri"/>
                          <a:cs typeface="Times New Roman"/>
                        </a:rPr>
                        <a:t>Particulars</a:t>
                      </a:r>
                      <a:endParaRPr lang="en-IN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latin typeface="Times New Roman"/>
                          <a:ea typeface="Calibri"/>
                          <a:cs typeface="Times New Roman"/>
                        </a:rPr>
                        <a:t>Duration</a:t>
                      </a:r>
                      <a:endParaRPr lang="en-IN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Outcome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969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Module1(Give Name such as Literature survey with detail)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---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latin typeface="Times New Roman"/>
                          <a:ea typeface="Calibri"/>
                          <a:cs typeface="Times New Roman"/>
                        </a:rPr>
                        <a:t>Review Paper for publishing</a:t>
                      </a:r>
                      <a:endParaRPr lang="en-IN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56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Module2(Planning)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---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latin typeface="Times New Roman"/>
                          <a:ea typeface="Calibri"/>
                          <a:cs typeface="Times New Roman"/>
                        </a:rPr>
                        <a:t>---</a:t>
                      </a:r>
                      <a:endParaRPr lang="en-IN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56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Module3(Design)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---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---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13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Module4(Implementation)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---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---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56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Module5(Validation)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latin typeface="Times New Roman"/>
                          <a:ea typeface="Calibri"/>
                          <a:cs typeface="Times New Roman"/>
                        </a:rPr>
                        <a:t>---</a:t>
                      </a:r>
                      <a:endParaRPr lang="en-IN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latin typeface="Times New Roman"/>
                          <a:ea typeface="Calibri"/>
                          <a:cs typeface="Times New Roman"/>
                        </a:rPr>
                        <a:t>---(Research paper of own work)</a:t>
                      </a:r>
                      <a:endParaRPr lang="en-IN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2910" y="5286388"/>
            <a:ext cx="72152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Note: Candidate can also present the work plan in form of GANTT chart</a:t>
            </a:r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2259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Development Stages Photographs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080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Testing of Project and standard Readings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061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&amp; Discussions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838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Conclusion of the work should </a:t>
            </a:r>
            <a:r>
              <a:rPr lang="en-US" smtClean="0"/>
              <a:t>be mentioned </a:t>
            </a:r>
            <a:r>
              <a:rPr lang="en-US" dirty="0" smtClean="0"/>
              <a:t>in form </a:t>
            </a:r>
            <a:r>
              <a:rPr lang="en-US" smtClean="0"/>
              <a:t>of bullets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431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Photograph with Team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623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Bills of Materials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262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References should be strictly as per IEEE format.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336</Words>
  <Application>Microsoft Office PowerPoint</Application>
  <PresentationFormat>On-screen Show (4:3)</PresentationFormat>
  <Paragraphs>93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Annexure I</vt:lpstr>
      <vt:lpstr>   ORIENTAL COLLEGE OF TECHNOLOGY BHOPAL (M.P.) </vt:lpstr>
      <vt:lpstr>Contents</vt:lpstr>
      <vt:lpstr>Introduction</vt:lpstr>
      <vt:lpstr>Literature Review(For reference see Template)</vt:lpstr>
      <vt:lpstr>Template for Literature Review</vt:lpstr>
      <vt:lpstr>GAP ANALYSIS</vt:lpstr>
      <vt:lpstr> Objective  </vt:lpstr>
      <vt:lpstr>Technology Used</vt:lpstr>
      <vt:lpstr>Circuit Diagram &amp; Description </vt:lpstr>
      <vt:lpstr>Proposed Methodology</vt:lpstr>
      <vt:lpstr>Work Plan  </vt:lpstr>
      <vt:lpstr>Development Stages Photographs</vt:lpstr>
      <vt:lpstr>Testing of Project and standard Readings </vt:lpstr>
      <vt:lpstr>Results &amp; Discussions</vt:lpstr>
      <vt:lpstr>Conclusion </vt:lpstr>
      <vt:lpstr>Applications</vt:lpstr>
      <vt:lpstr>Project Photograph with Team</vt:lpstr>
      <vt:lpstr>Bills of Materials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NRI Institute of Information Science &amp; Technology Bhopal (M.P.)</dc:title>
  <dc:creator>Toshiba</dc:creator>
  <cp:lastModifiedBy>Administrator</cp:lastModifiedBy>
  <cp:revision>25</cp:revision>
  <dcterms:created xsi:type="dcterms:W3CDTF">2013-01-10T05:52:29Z</dcterms:created>
  <dcterms:modified xsi:type="dcterms:W3CDTF">2021-08-27T08:55:13Z</dcterms:modified>
</cp:coreProperties>
</file>