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7"/>
  </p:notesMasterIdLst>
  <p:sldIdLst>
    <p:sldId id="257" r:id="rId2"/>
    <p:sldId id="258" r:id="rId3"/>
    <p:sldId id="269" r:id="rId4"/>
    <p:sldId id="259" r:id="rId5"/>
    <p:sldId id="263" r:id="rId6"/>
    <p:sldId id="278" r:id="rId7"/>
    <p:sldId id="276" r:id="rId8"/>
    <p:sldId id="277" r:id="rId9"/>
    <p:sldId id="261" r:id="rId10"/>
    <p:sldId id="267" r:id="rId11"/>
    <p:sldId id="273" r:id="rId12"/>
    <p:sldId id="272" r:id="rId13"/>
    <p:sldId id="274" r:id="rId14"/>
    <p:sldId id="265" r:id="rId15"/>
    <p:sldId id="264"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88889" autoAdjust="0"/>
  </p:normalViewPr>
  <p:slideViewPr>
    <p:cSldViewPr>
      <p:cViewPr>
        <p:scale>
          <a:sx n="70" d="100"/>
          <a:sy n="70" d="100"/>
        </p:scale>
        <p:origin x="-2026" y="-466"/>
      </p:cViewPr>
      <p:guideLst>
        <p:guide orient="horz" pos="2160"/>
        <p:guide pos="2880"/>
      </p:guideLst>
    </p:cSldViewPr>
  </p:slideViewPr>
  <p:outlineViewPr>
    <p:cViewPr>
      <p:scale>
        <a:sx n="33" d="100"/>
        <a:sy n="33" d="100"/>
      </p:scale>
      <p:origin x="130" y="22795"/>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6DFBE0-9072-4D8A-A3AD-7351530CCE77}" type="datetimeFigureOut">
              <a:rPr lang="en-IN" smtClean="0"/>
              <a:pPr/>
              <a:t>30-11-2023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C606DF-7911-432E-A61D-00DB6799B7FE}" type="slidenum">
              <a:rPr lang="en-IN" smtClean="0"/>
              <a:pPr/>
              <a:t>‹#›</a:t>
            </a:fld>
            <a:endParaRPr lang="en-IN"/>
          </a:p>
        </p:txBody>
      </p:sp>
    </p:spTree>
    <p:extLst>
      <p:ext uri="{BB962C8B-B14F-4D97-AF65-F5344CB8AC3E}">
        <p14:creationId xmlns="" xmlns:p14="http://schemas.microsoft.com/office/powerpoint/2010/main" val="1993806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C606DF-7911-432E-A61D-00DB6799B7FE}" type="slidenum">
              <a:rPr lang="en-IN" smtClean="0"/>
              <a:pPr/>
              <a:t>2</a:t>
            </a:fld>
            <a:endParaRPr lang="en-IN"/>
          </a:p>
        </p:txBody>
      </p:sp>
    </p:spTree>
    <p:extLst>
      <p:ext uri="{BB962C8B-B14F-4D97-AF65-F5344CB8AC3E}">
        <p14:creationId xmlns="" xmlns:p14="http://schemas.microsoft.com/office/powerpoint/2010/main" val="1071490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2C606DF-7911-432E-A61D-00DB6799B7FE}" type="slidenum">
              <a:rPr lang="en-IN" smtClean="0"/>
              <a:pPr/>
              <a:t>5</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2C606DF-7911-432E-A61D-00DB6799B7FE}" type="slidenum">
              <a:rPr lang="en-IN" smtClean="0"/>
              <a:pPr/>
              <a:t>6</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2C606DF-7911-432E-A61D-00DB6799B7FE}" type="slidenum">
              <a:rPr lang="en-IN" smtClean="0"/>
              <a:pPr/>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3367930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3488195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702727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433276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3662566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2238558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923426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1517168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1888493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3429590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1405467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93A6BB4-39F4-4292-8293-6CC04664DC04}" type="datetimeFigureOut">
              <a:rPr lang="en-US" smtClean="0"/>
              <a:pPr/>
              <a:t>11/30/2023</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454E243-288C-419F-B209-699AD149C937}" type="slidenum">
              <a:rPr lang="en-IN" smtClean="0"/>
              <a:pPr/>
              <a:t>‹#›</a:t>
            </a:fld>
            <a:endParaRPr lang="en-IN"/>
          </a:p>
        </p:txBody>
      </p:sp>
    </p:spTree>
    <p:extLst>
      <p:ext uri="{BB962C8B-B14F-4D97-AF65-F5344CB8AC3E}">
        <p14:creationId xmlns="" xmlns:p14="http://schemas.microsoft.com/office/powerpoint/2010/main" val="159260545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14282" y="285728"/>
            <a:ext cx="8929718" cy="990600"/>
          </a:xfrm>
        </p:spPr>
        <p:txBody>
          <a:bodyPr>
            <a:normAutofit fontScale="90000"/>
          </a:bodyPr>
          <a:lstStyle/>
          <a:p>
            <a:pPr algn="ctr" eaLnBrk="1" hangingPunct="1">
              <a:lnSpc>
                <a:spcPct val="80000"/>
              </a:lnSpc>
            </a:pPr>
            <a:r>
              <a:rPr lang="en-US" sz="2400" b="1" dirty="0"/>
              <a:t> </a:t>
            </a:r>
            <a:br>
              <a:rPr lang="en-US" sz="2400" b="1" dirty="0"/>
            </a:br>
            <a:r>
              <a:rPr lang="en-US" sz="2400" b="1" dirty="0"/>
              <a:t/>
            </a:r>
            <a:br>
              <a:rPr lang="en-US" sz="2400" b="1" dirty="0"/>
            </a:br>
            <a:r>
              <a:rPr lang="en-US" sz="3100" b="1" dirty="0"/>
              <a:t>ORIENTAL COLLEGE OF TECHNOLOGY</a:t>
            </a:r>
            <a:br>
              <a:rPr lang="en-US" sz="3100" b="1" dirty="0"/>
            </a:br>
            <a:r>
              <a:rPr lang="en-US" sz="3100" b="1" dirty="0"/>
              <a:t>BHOPAL (M.P.)</a:t>
            </a:r>
            <a:br>
              <a:rPr lang="en-US" sz="3100" b="1" dirty="0"/>
            </a:br>
            <a:endParaRPr lang="en-US" sz="2400" b="1" dirty="0">
              <a:solidFill>
                <a:srgbClr val="FF0066"/>
              </a:solidFill>
            </a:endParaRPr>
          </a:p>
        </p:txBody>
      </p:sp>
      <p:sp>
        <p:nvSpPr>
          <p:cNvPr id="2051" name="Rectangle 3"/>
          <p:cNvSpPr>
            <a:spLocks noGrp="1" noChangeArrowheads="1"/>
          </p:cNvSpPr>
          <p:nvPr>
            <p:ph type="subTitle" idx="1"/>
          </p:nvPr>
        </p:nvSpPr>
        <p:spPr>
          <a:xfrm>
            <a:off x="500034" y="1219200"/>
            <a:ext cx="8429684" cy="5638800"/>
          </a:xfrm>
        </p:spPr>
        <p:txBody>
          <a:bodyPr>
            <a:normAutofit lnSpcReduction="10000"/>
          </a:bodyPr>
          <a:lstStyle/>
          <a:p>
            <a:pPr eaLnBrk="1" hangingPunct="1">
              <a:lnSpc>
                <a:spcPct val="80000"/>
              </a:lnSpc>
            </a:pPr>
            <a:endParaRPr lang="en-US" sz="2000" dirty="0"/>
          </a:p>
          <a:p>
            <a:pPr eaLnBrk="1" hangingPunct="1">
              <a:lnSpc>
                <a:spcPct val="80000"/>
              </a:lnSpc>
            </a:pPr>
            <a:endParaRPr lang="en-US" sz="2000" dirty="0"/>
          </a:p>
          <a:p>
            <a:pPr eaLnBrk="1" hangingPunct="1">
              <a:lnSpc>
                <a:spcPct val="80000"/>
              </a:lnSpc>
            </a:pPr>
            <a:endParaRPr lang="en-US" sz="2000" dirty="0"/>
          </a:p>
          <a:p>
            <a:pPr eaLnBrk="1" hangingPunct="1">
              <a:lnSpc>
                <a:spcPct val="80000"/>
              </a:lnSpc>
            </a:pPr>
            <a:endParaRPr lang="en-US" sz="2000" b="1" dirty="0"/>
          </a:p>
          <a:p>
            <a:pPr eaLnBrk="1" hangingPunct="1">
              <a:lnSpc>
                <a:spcPct val="80000"/>
              </a:lnSpc>
            </a:pPr>
            <a:endParaRPr lang="en-US" sz="2000" b="1" dirty="0"/>
          </a:p>
          <a:p>
            <a:pPr eaLnBrk="1" hangingPunct="1">
              <a:lnSpc>
                <a:spcPct val="80000"/>
              </a:lnSpc>
            </a:pPr>
            <a:r>
              <a:rPr lang="en-US" sz="2000" b="1" dirty="0"/>
              <a:t>“</a:t>
            </a:r>
            <a:r>
              <a:rPr lang="en-US" sz="2800" b="1" dirty="0"/>
              <a:t>Information Technology</a:t>
            </a:r>
            <a:r>
              <a:rPr lang="en-US" sz="2000" b="1" dirty="0"/>
              <a:t>”</a:t>
            </a:r>
          </a:p>
          <a:p>
            <a:pPr eaLnBrk="1" hangingPunct="1">
              <a:lnSpc>
                <a:spcPct val="80000"/>
              </a:lnSpc>
            </a:pPr>
            <a:endParaRPr lang="en-US" sz="900" dirty="0"/>
          </a:p>
          <a:p>
            <a:pPr eaLnBrk="1" hangingPunct="1">
              <a:lnSpc>
                <a:spcPct val="80000"/>
              </a:lnSpc>
            </a:pPr>
            <a:endParaRPr lang="en-US" sz="2000" dirty="0"/>
          </a:p>
          <a:p>
            <a:pPr eaLnBrk="1" hangingPunct="1">
              <a:lnSpc>
                <a:spcPct val="80000"/>
              </a:lnSpc>
            </a:pPr>
            <a:r>
              <a:rPr lang="en-US" sz="2000" dirty="0"/>
              <a:t>Minor Project Progress Presentation I</a:t>
            </a:r>
          </a:p>
          <a:p>
            <a:pPr eaLnBrk="1" hangingPunct="1">
              <a:lnSpc>
                <a:spcPct val="80000"/>
              </a:lnSpc>
            </a:pPr>
            <a:r>
              <a:rPr lang="en-US" sz="2000" dirty="0"/>
              <a:t>On</a:t>
            </a:r>
            <a:endParaRPr lang="en-US" sz="2000" b="1" dirty="0">
              <a:solidFill>
                <a:srgbClr val="FF0066"/>
              </a:solidFill>
            </a:endParaRPr>
          </a:p>
          <a:p>
            <a:pPr eaLnBrk="1" hangingPunct="1">
              <a:lnSpc>
                <a:spcPct val="80000"/>
              </a:lnSpc>
            </a:pPr>
            <a:r>
              <a:rPr lang="en-US" sz="2000" b="1" dirty="0" smtClean="0">
                <a:solidFill>
                  <a:srgbClr val="FF0066"/>
                </a:solidFill>
              </a:rPr>
              <a:t>“CINEVERSE”</a:t>
            </a:r>
            <a:endParaRPr lang="en-US" sz="2000" b="1" dirty="0">
              <a:solidFill>
                <a:srgbClr val="FF0066"/>
              </a:solidFill>
            </a:endParaRPr>
          </a:p>
          <a:p>
            <a:pPr eaLnBrk="1" hangingPunct="1">
              <a:lnSpc>
                <a:spcPct val="80000"/>
              </a:lnSpc>
            </a:pPr>
            <a:r>
              <a:rPr lang="en-US" sz="2000" b="1" dirty="0" smtClean="0">
                <a:solidFill>
                  <a:srgbClr val="FF0066"/>
                </a:solidFill>
              </a:rPr>
              <a:t>30</a:t>
            </a:r>
            <a:r>
              <a:rPr lang="en-US" sz="2000" b="1" baseline="30000" dirty="0" smtClean="0">
                <a:solidFill>
                  <a:srgbClr val="FF0066"/>
                </a:solidFill>
              </a:rPr>
              <a:t>h</a:t>
            </a:r>
            <a:r>
              <a:rPr lang="en-US" sz="2000" b="1" dirty="0" smtClean="0">
                <a:solidFill>
                  <a:srgbClr val="FF0066"/>
                </a:solidFill>
              </a:rPr>
              <a:t> Nov 2023</a:t>
            </a:r>
            <a:endParaRPr lang="en-US" sz="2000" b="1" dirty="0">
              <a:solidFill>
                <a:srgbClr val="FF0066"/>
              </a:solidFill>
            </a:endParaRPr>
          </a:p>
          <a:p>
            <a:pPr eaLnBrk="1" hangingPunct="1">
              <a:lnSpc>
                <a:spcPct val="80000"/>
              </a:lnSpc>
            </a:pPr>
            <a:endParaRPr lang="en-US" sz="2000" b="1" dirty="0">
              <a:solidFill>
                <a:srgbClr val="FF0066"/>
              </a:solidFill>
            </a:endParaRPr>
          </a:p>
          <a:p>
            <a:pPr algn="l" eaLnBrk="1" hangingPunct="1">
              <a:lnSpc>
                <a:spcPct val="80000"/>
              </a:lnSpc>
            </a:pPr>
            <a:endParaRPr lang="en-US" sz="2000" dirty="0">
              <a:solidFill>
                <a:schemeClr val="accent2"/>
              </a:solidFill>
            </a:endParaRPr>
          </a:p>
          <a:p>
            <a:pPr algn="l">
              <a:lnSpc>
                <a:spcPct val="80000"/>
              </a:lnSpc>
            </a:pPr>
            <a:r>
              <a:rPr lang="en-US" sz="1800" b="1" dirty="0">
                <a:solidFill>
                  <a:schemeClr val="tx1"/>
                </a:solidFill>
              </a:rPr>
              <a:t>Guided by					</a:t>
            </a:r>
            <a:r>
              <a:rPr lang="en-US" sz="1800" b="1" dirty="0" smtClean="0">
                <a:solidFill>
                  <a:schemeClr val="tx1"/>
                </a:solidFill>
              </a:rPr>
              <a:t>     </a:t>
            </a:r>
            <a:r>
              <a:rPr lang="en-US" sz="1800" dirty="0" smtClean="0">
                <a:solidFill>
                  <a:schemeClr val="tx1">
                    <a:lumMod val="95000"/>
                    <a:lumOff val="5000"/>
                  </a:schemeClr>
                </a:solidFill>
              </a:rPr>
              <a:t>Presented by:</a:t>
            </a:r>
            <a:endParaRPr lang="en-US" sz="1800" dirty="0">
              <a:solidFill>
                <a:schemeClr val="tx1">
                  <a:lumMod val="95000"/>
                  <a:lumOff val="5000"/>
                </a:schemeClr>
              </a:solidFill>
            </a:endParaRPr>
          </a:p>
          <a:p>
            <a:pPr algn="l">
              <a:lnSpc>
                <a:spcPct val="80000"/>
              </a:lnSpc>
            </a:pPr>
            <a:r>
              <a:rPr lang="en-US" sz="1800" b="1" dirty="0" smtClean="0">
                <a:solidFill>
                  <a:schemeClr val="tx1"/>
                </a:solidFill>
              </a:rPr>
              <a:t>Prof. SAPNA SINGH</a:t>
            </a:r>
            <a:r>
              <a:rPr lang="en-US" sz="1800" b="1" dirty="0">
                <a:solidFill>
                  <a:schemeClr val="tx1"/>
                </a:solidFill>
              </a:rPr>
              <a:t>					</a:t>
            </a:r>
            <a:endParaRPr lang="en-US" sz="1800" dirty="0">
              <a:solidFill>
                <a:schemeClr val="tx1">
                  <a:lumMod val="95000"/>
                  <a:lumOff val="5000"/>
                </a:schemeClr>
              </a:solidFill>
            </a:endParaRPr>
          </a:p>
          <a:p>
            <a:pPr algn="l">
              <a:lnSpc>
                <a:spcPct val="80000"/>
              </a:lnSpc>
            </a:pPr>
            <a:r>
              <a:rPr lang="en-US" sz="1800" b="1" dirty="0">
                <a:solidFill>
                  <a:schemeClr val="tx1"/>
                </a:solidFill>
              </a:rPr>
              <a:t>							</a:t>
            </a:r>
            <a:endParaRPr lang="en-US" sz="1800" dirty="0">
              <a:solidFill>
                <a:schemeClr val="tx1">
                  <a:lumMod val="95000"/>
                  <a:lumOff val="5000"/>
                </a:schemeClr>
              </a:solidFill>
            </a:endParaRPr>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067944" y="1340768"/>
            <a:ext cx="1181641" cy="11868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 name="Rectangle: Rounded Corners 1">
            <a:extLst>
              <a:ext uri="{FF2B5EF4-FFF2-40B4-BE49-F238E27FC236}">
                <a16:creationId xmlns="" xmlns:a16="http://schemas.microsoft.com/office/drawing/2014/main" id="{2A40E20C-A42C-AAE0-BB01-C87CC5A3E682}"/>
              </a:ext>
            </a:extLst>
          </p:cNvPr>
          <p:cNvSpPr/>
          <p:nvPr/>
        </p:nvSpPr>
        <p:spPr>
          <a:xfrm>
            <a:off x="6156176" y="5085184"/>
            <a:ext cx="3168352" cy="1944216"/>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IN" sz="1400" b="1" dirty="0" smtClean="0"/>
              <a:t>PRASHANT KUMAR RAI</a:t>
            </a:r>
            <a:r>
              <a:rPr lang="en-IN" sz="1400" b="1" dirty="0" smtClean="0"/>
              <a:t> </a:t>
            </a:r>
            <a:r>
              <a:rPr lang="en-IN" sz="1400" b="1" dirty="0" smtClean="0"/>
              <a:t>(</a:t>
            </a:r>
            <a:r>
              <a:rPr lang="en-IN" sz="1400" b="1" dirty="0" smtClean="0"/>
              <a:t>0126IT211071)</a:t>
            </a:r>
            <a:endParaRPr lang="en-IN" sz="1400" b="1" dirty="0"/>
          </a:p>
          <a:p>
            <a:pPr algn="ctr"/>
            <a:r>
              <a:rPr lang="en-IN" sz="1400" b="1" dirty="0" smtClean="0"/>
              <a:t>SALONI MALVIYA (0126IT211096)</a:t>
            </a:r>
            <a:endParaRPr lang="en-IN" sz="1400" b="1" dirty="0"/>
          </a:p>
          <a:p>
            <a:pPr algn="ctr"/>
            <a:r>
              <a:rPr lang="en-IN" sz="1400" b="1" dirty="0" smtClean="0"/>
              <a:t>SWAPNIL BUCHA</a:t>
            </a:r>
            <a:r>
              <a:rPr lang="en-IN" sz="1400" b="1" dirty="0" smtClean="0"/>
              <a:t> </a:t>
            </a:r>
            <a:r>
              <a:rPr lang="en-IN" sz="1400" b="1" dirty="0" smtClean="0"/>
              <a:t>(</a:t>
            </a:r>
            <a:r>
              <a:rPr lang="en-IN" sz="1400" b="1" dirty="0" smtClean="0"/>
              <a:t>0126IT211116)</a:t>
            </a:r>
          </a:p>
          <a:p>
            <a:pPr algn="ctr"/>
            <a:r>
              <a:rPr lang="en-IN" sz="1400" b="1" dirty="0" smtClean="0"/>
              <a:t>POORVI SHINDE</a:t>
            </a:r>
            <a:r>
              <a:rPr lang="en-IN" sz="1400" b="1" dirty="0" smtClean="0"/>
              <a:t> (0126IT211069)</a:t>
            </a:r>
          </a:p>
          <a:p>
            <a:pPr algn="ctr"/>
            <a:r>
              <a:rPr lang="en-IN" sz="1400" b="1" dirty="0" smtClean="0"/>
              <a:t>SANIDHYA KUMAR VISHWAKARMA</a:t>
            </a:r>
            <a:r>
              <a:rPr lang="en-IN" sz="1400" b="1" dirty="0" smtClean="0"/>
              <a:t> (0126IT211098)</a:t>
            </a:r>
            <a:endParaRPr lang="en-IN"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868362"/>
          </a:xfrm>
        </p:spPr>
        <p:txBody>
          <a:bodyPr/>
          <a:lstStyle/>
          <a:p>
            <a:pPr eaLnBrk="1" hangingPunct="1"/>
            <a:r>
              <a:rPr lang="en-US" dirty="0">
                <a:solidFill>
                  <a:srgbClr val="FF0066"/>
                </a:solidFill>
                <a:latin typeface="Times New Roman" pitchFamily="18" charset="0"/>
                <a:cs typeface="Times New Roman" pitchFamily="18" charset="0"/>
              </a:rPr>
              <a:t>Contents</a:t>
            </a:r>
          </a:p>
        </p:txBody>
      </p:sp>
      <p:sp>
        <p:nvSpPr>
          <p:cNvPr id="3075" name="Rectangle 3"/>
          <p:cNvSpPr>
            <a:spLocks noGrp="1" noChangeArrowheads="1"/>
          </p:cNvSpPr>
          <p:nvPr>
            <p:ph idx="1"/>
          </p:nvPr>
        </p:nvSpPr>
        <p:spPr>
          <a:xfrm>
            <a:off x="457200" y="1295400"/>
            <a:ext cx="8229600" cy="4830763"/>
          </a:xfrm>
        </p:spPr>
        <p:txBody>
          <a:bodyPr>
            <a:normAutofit/>
          </a:bodyPr>
          <a:lstStyle/>
          <a:p>
            <a:pPr lvl="2" eaLnBrk="1" hangingPunct="1"/>
            <a:r>
              <a:rPr lang="en-US" sz="2800" dirty="0">
                <a:latin typeface="Times New Roman" pitchFamily="18" charset="0"/>
                <a:cs typeface="Times New Roman" pitchFamily="18" charset="0"/>
              </a:rPr>
              <a:t>Introduction</a:t>
            </a:r>
          </a:p>
          <a:p>
            <a:pPr lvl="2" eaLnBrk="1" hangingPunct="1"/>
            <a:r>
              <a:rPr lang="en-US" sz="2800" dirty="0">
                <a:latin typeface="Times New Roman" pitchFamily="18" charset="0"/>
                <a:cs typeface="Times New Roman" pitchFamily="18" charset="0"/>
              </a:rPr>
              <a:t>Literature Review</a:t>
            </a:r>
          </a:p>
          <a:p>
            <a:pPr lvl="2" eaLnBrk="1" hangingPunct="1"/>
            <a:r>
              <a:rPr lang="en-US" sz="2800" dirty="0">
                <a:latin typeface="Times New Roman" pitchFamily="18" charset="0"/>
                <a:cs typeface="Times New Roman" pitchFamily="18" charset="0"/>
              </a:rPr>
              <a:t>Objective </a:t>
            </a:r>
          </a:p>
          <a:p>
            <a:pPr lvl="2" eaLnBrk="1" hangingPunct="1"/>
            <a:r>
              <a:rPr lang="en-US" sz="2800" dirty="0">
                <a:latin typeface="Times New Roman" pitchFamily="18" charset="0"/>
                <a:cs typeface="Times New Roman" pitchFamily="18" charset="0"/>
              </a:rPr>
              <a:t>Work Plan &amp; Technology used</a:t>
            </a:r>
          </a:p>
          <a:p>
            <a:pPr lvl="2" eaLnBrk="1" hangingPunct="1"/>
            <a:r>
              <a:rPr lang="en-IN" sz="2800" dirty="0" smtClean="0">
                <a:latin typeface="Times New Roman" pitchFamily="18" charset="0"/>
                <a:cs typeface="Times New Roman" pitchFamily="18" charset="0"/>
              </a:rPr>
              <a:t>Disadvantages and Advantages</a:t>
            </a:r>
            <a:endParaRPr lang="en-US" sz="2800" dirty="0">
              <a:latin typeface="Times New Roman" pitchFamily="18" charset="0"/>
              <a:cs typeface="Times New Roman" pitchFamily="18" charset="0"/>
            </a:endParaRPr>
          </a:p>
          <a:p>
            <a:pPr lvl="2" eaLnBrk="1" hangingPunct="1"/>
            <a:r>
              <a:rPr lang="en-US" sz="2800" dirty="0">
                <a:latin typeface="Times New Roman" pitchFamily="18" charset="0"/>
                <a:cs typeface="Times New Roman" pitchFamily="18" charset="0"/>
              </a:rPr>
              <a:t>Proposed Methodology/Algorithm</a:t>
            </a:r>
          </a:p>
          <a:p>
            <a:pPr lvl="2" eaLnBrk="1" hangingPunct="1"/>
            <a:r>
              <a:rPr lang="en-US" sz="2800" dirty="0">
                <a:latin typeface="Times New Roman" pitchFamily="18" charset="0"/>
                <a:cs typeface="Times New Roman" pitchFamily="18" charset="0"/>
              </a:rPr>
              <a:t>Expected Outcomes</a:t>
            </a:r>
          </a:p>
          <a:p>
            <a:pPr lvl="2" eaLnBrk="1" hangingPunct="1"/>
            <a:r>
              <a:rPr lang="en-US" sz="2800" dirty="0">
                <a:latin typeface="Times New Roman" pitchFamily="18" charset="0"/>
                <a:cs typeface="Times New Roman" pitchFamily="18" charset="0"/>
              </a:rPr>
              <a:t>Conclusion</a:t>
            </a:r>
          </a:p>
          <a:p>
            <a:pPr lvl="2" eaLnBrk="1" hangingPunct="1"/>
            <a:r>
              <a:rPr lang="en-US" sz="2800" dirty="0">
                <a:latin typeface="Times New Roman" pitchFamily="18" charset="0"/>
                <a:cs typeface="Times New Roman" pitchFamily="18" charset="0"/>
              </a:rPr>
              <a:t>References</a:t>
            </a:r>
          </a:p>
          <a:p>
            <a:pPr eaLnBrk="1" hangingPunct="1">
              <a:buFontTx/>
              <a:buNone/>
            </a:pPr>
            <a:endParaRPr lang="en-US" sz="2800" dirty="0">
              <a:solidFill>
                <a:schemeClr val="accen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61"/>
            <a:ext cx="8229600" cy="1143000"/>
          </a:xfrm>
        </p:spPr>
        <p:txBody>
          <a:bodyPr/>
          <a:lstStyle/>
          <a:p>
            <a:r>
              <a:rPr lang="en-US" b="1" dirty="0"/>
              <a:t>Introduction</a:t>
            </a:r>
            <a:endParaRPr lang="en-GB" b="1" dirty="0"/>
          </a:p>
        </p:txBody>
      </p:sp>
      <p:sp>
        <p:nvSpPr>
          <p:cNvPr id="3" name="Content Placeholder 2"/>
          <p:cNvSpPr>
            <a:spLocks noGrp="1"/>
          </p:cNvSpPr>
          <p:nvPr>
            <p:ph idx="1"/>
          </p:nvPr>
        </p:nvSpPr>
        <p:spPr>
          <a:xfrm>
            <a:off x="457200" y="1196752"/>
            <a:ext cx="8229600" cy="5328592"/>
          </a:xfrm>
        </p:spPr>
        <p:txBody>
          <a:bodyPr>
            <a:normAutofit lnSpcReduction="10000"/>
          </a:bodyPr>
          <a:lstStyle/>
          <a:p>
            <a:pPr algn="just"/>
            <a:r>
              <a:rPr lang="en-US" sz="2400" dirty="0" smtClean="0"/>
              <a:t>The introduction to a movie rating website typically outlines its purpose, functionality, and significance. It might cover:"Movie rating websites serve as invaluable platforms for film enthusiasts and audiences worldwide. These websites offer a comprehensive database of movies, allowing users to explore, review, and rate films based on their individual experiences. With a vast array of genres and diverse cinematic choices available, these platforms have become integral to modern movie consumption. By amalgamating user-generated ratings, reviews, and sophisticated recommendation algorithms, these websites not only aid audiences in making informed viewing choices but also influence industry trends and movie success. Understanding the dynamics and impact of these platforms is crucial in exploring the intersection of audience preferences, industry influence, and the digital landscape of modern entertainment."</a:t>
            </a:r>
            <a:endParaRPr lang="en-GB" sz="2400" dirty="0"/>
          </a:p>
        </p:txBody>
      </p:sp>
    </p:spTree>
    <p:extLst>
      <p:ext uri="{BB962C8B-B14F-4D97-AF65-F5344CB8AC3E}">
        <p14:creationId xmlns="" xmlns:p14="http://schemas.microsoft.com/office/powerpoint/2010/main" val="212034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cs typeface="Times New Roman" pitchFamily="18" charset="0"/>
              </a:rPr>
              <a:t>Literature </a:t>
            </a:r>
            <a:r>
              <a:rPr lang="en-US" b="1" dirty="0" smtClean="0">
                <a:cs typeface="Times New Roman" pitchFamily="18" charset="0"/>
              </a:rPr>
              <a:t>Review</a:t>
            </a:r>
            <a:endParaRPr lang="en-US" b="1" dirty="0"/>
          </a:p>
        </p:txBody>
      </p:sp>
      <p:sp>
        <p:nvSpPr>
          <p:cNvPr id="3" name="Content Placeholder 2"/>
          <p:cNvSpPr>
            <a:spLocks noGrp="1"/>
          </p:cNvSpPr>
          <p:nvPr>
            <p:ph idx="1"/>
          </p:nvPr>
        </p:nvSpPr>
        <p:spPr/>
        <p:txBody>
          <a:bodyPr>
            <a:normAutofit fontScale="92500"/>
          </a:bodyPr>
          <a:lstStyle/>
          <a:p>
            <a:pPr lvl="1"/>
            <a:r>
              <a:rPr lang="en-US" sz="2800" dirty="0" smtClean="0"/>
              <a:t>A literature review on movie rating websites could cover various aspects, such as user behavior, credibility of ratings, impact on movie industry, and the influence of reviews on audience choices. It may explore studies analyzing user-generated content, the role of algorithms in recommendation systems, and comparisons between different platforms. Research might also focus on the relationship between online reviews and box office success, the emergence of bias or manipulation in ratings, and the evolving nature of user trust in these platforms over time.</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Template for Literature Review</a:t>
            </a:r>
            <a:endParaRPr lang="en-IN" b="1" dirty="0"/>
          </a:p>
        </p:txBody>
      </p:sp>
      <p:sp>
        <p:nvSpPr>
          <p:cNvPr id="3" name="Content Placeholder 2"/>
          <p:cNvSpPr>
            <a:spLocks noGrp="1"/>
          </p:cNvSpPr>
          <p:nvPr>
            <p:ph idx="1"/>
          </p:nvPr>
        </p:nvSpPr>
        <p:spPr>
          <a:xfrm>
            <a:off x="628650" y="1340768"/>
            <a:ext cx="7886700" cy="4836195"/>
          </a:xfrm>
        </p:spPr>
        <p:txBody>
          <a:bodyPr>
            <a:normAutofit fontScale="92500" lnSpcReduction="10000"/>
          </a:bodyPr>
          <a:lstStyle/>
          <a:p>
            <a:pPr marL="0" indent="0" algn="just">
              <a:buNone/>
            </a:pPr>
            <a:r>
              <a:rPr lang="en-US" sz="2000" dirty="0" smtClean="0">
                <a:latin typeface="Söhne"/>
              </a:rPr>
              <a:t>Sure, a literature review on movie rating website theories might encompass several perspectives:1. *User Behavior:* Studies examining how users engage with movie rating websites, their motivations for leaving reviews, and the impact of social influence on their rating decisions.2. *Information Credibility:* Research on the credibility of ratings, including investigations into factors influencing perceived credibility, such as user expertise, review content, and platform design.3. *Algorithmic Recommendation:* Theoretical frameworks around recommendation systems employed by movie rating websites, exploring algorithms' roles in shaping user experiences and their effects on users' movie preferences.4. *Impact on Movie Industry:* Theories exploring how these websites influence consumer behavior, box office success, and the strategies adopted by filmmakers or studios in response to online ratings and reviews.5. *Trust and Bias:* Theoretical discussions on the emergence of bias or manipulation in ratings, trust dynamics between users and platforms, and the evolution of trust over time in online review </a:t>
            </a:r>
            <a:r>
              <a:rPr lang="en-US" sz="2000" dirty="0" err="1" smtClean="0">
                <a:latin typeface="Söhne"/>
              </a:rPr>
              <a:t>systems.A</a:t>
            </a:r>
            <a:r>
              <a:rPr lang="en-US" sz="2000" dirty="0" smtClean="0">
                <a:latin typeface="Söhne"/>
              </a:rPr>
              <a:t> literature review within this realm would likely delve into these theories, discussing various scholarly perspectives and studies that contribute to understanding the intricate workings of movie rating websites.</a:t>
            </a:r>
            <a:endParaRPr lang="en-I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566A98F-BC27-6BED-8067-3E44CBBC862D}"/>
              </a:ext>
            </a:extLst>
          </p:cNvPr>
          <p:cNvSpPr>
            <a:spLocks noGrp="1"/>
          </p:cNvSpPr>
          <p:nvPr>
            <p:ph idx="1"/>
          </p:nvPr>
        </p:nvSpPr>
        <p:spPr>
          <a:xfrm>
            <a:off x="0" y="0"/>
            <a:ext cx="8964488" cy="7074024"/>
          </a:xfrm>
        </p:spPr>
        <p:txBody>
          <a:bodyPr>
            <a:noAutofit/>
          </a:bodyPr>
          <a:lstStyle/>
          <a:p>
            <a:pPr marL="0" indent="0">
              <a:lnSpc>
                <a:spcPct val="170000"/>
              </a:lnSpc>
              <a:spcBef>
                <a:spcPts val="600"/>
              </a:spcBef>
              <a:spcAft>
                <a:spcPts val="600"/>
              </a:spcAft>
              <a:buNone/>
            </a:pPr>
            <a:r>
              <a:rPr lang="en-IN" sz="1800" b="1" dirty="0" smtClean="0">
                <a:latin typeface="Söhne"/>
              </a:rPr>
              <a:t>                                                       METHODOLOGY</a:t>
            </a:r>
            <a:endParaRPr lang="en-US" sz="1050" dirty="0" smtClean="0">
              <a:latin typeface="Söhne"/>
            </a:endParaRPr>
          </a:p>
          <a:p>
            <a:pPr marL="0" indent="0">
              <a:lnSpc>
                <a:spcPct val="170000"/>
              </a:lnSpc>
              <a:spcBef>
                <a:spcPts val="600"/>
              </a:spcBef>
              <a:spcAft>
                <a:spcPts val="600"/>
              </a:spcAft>
              <a:buNone/>
            </a:pPr>
            <a:r>
              <a:rPr lang="en-US" sz="1600" dirty="0" smtClean="0">
                <a:latin typeface="Arial" pitchFamily="34" charset="0"/>
                <a:ea typeface="Cascadia Mono SemiBold" pitchFamily="49" charset="0"/>
                <a:cs typeface="Arial" pitchFamily="34" charset="0"/>
              </a:rPr>
              <a:t>Creating </a:t>
            </a:r>
            <a:r>
              <a:rPr lang="en-US" sz="1600" dirty="0" smtClean="0">
                <a:latin typeface="Arial" pitchFamily="34" charset="0"/>
                <a:ea typeface="Cascadia Mono SemiBold" pitchFamily="49" charset="0"/>
                <a:cs typeface="Arial" pitchFamily="34" charset="0"/>
              </a:rPr>
              <a:t>a movie rating website involves several key steps and considerations. Here's a general methodology to guide you through the process:    Define Your Goals:        Clarify the purpose of your movie rating website. Are you focusing on user reviews, critic reviews, or a combination of both? Do you want to provide additional features like personalized recommendations, user forums, or a </a:t>
            </a:r>
            <a:r>
              <a:rPr lang="en-US" sz="1600" dirty="0" err="1" smtClean="0">
                <a:latin typeface="Arial" pitchFamily="34" charset="0"/>
                <a:ea typeface="Cascadia Mono SemiBold" pitchFamily="49" charset="0"/>
                <a:cs typeface="Arial" pitchFamily="34" charset="0"/>
              </a:rPr>
              <a:t>watchlist</a:t>
            </a:r>
            <a:r>
              <a:rPr lang="en-US" sz="1600" dirty="0" smtClean="0">
                <a:latin typeface="Arial" pitchFamily="34" charset="0"/>
                <a:ea typeface="Cascadia Mono SemiBold" pitchFamily="49" charset="0"/>
                <a:cs typeface="Arial" pitchFamily="34" charset="0"/>
              </a:rPr>
              <a:t>?    Market Research:        Investigate existing movie rating websites to understand their features, strengths, and weaknesses. Identify gaps in the market that your website can fill. Consider the target audience and their preferences.    Legal Considerations:        Research and understand the legal aspects of displaying movie information, reviews, and ratings. Ensure compliance with copyright laws and terms of use for movie data.    Data Sources:        Decide where you'll source your movie data. Options include partnering with an existing movie database, using APIs from platforms like </a:t>
            </a:r>
            <a:r>
              <a:rPr lang="en-US" sz="1600" dirty="0" err="1" smtClean="0">
                <a:latin typeface="Arial" pitchFamily="34" charset="0"/>
                <a:ea typeface="Cascadia Mono SemiBold" pitchFamily="49" charset="0"/>
                <a:cs typeface="Arial" pitchFamily="34" charset="0"/>
              </a:rPr>
              <a:t>IMDb</a:t>
            </a:r>
            <a:r>
              <a:rPr lang="en-US" sz="1600" dirty="0" smtClean="0">
                <a:latin typeface="Arial" pitchFamily="34" charset="0"/>
                <a:ea typeface="Cascadia Mono SemiBold" pitchFamily="49" charset="0"/>
                <a:cs typeface="Arial" pitchFamily="34" charset="0"/>
              </a:rPr>
              <a:t>, or manually </a:t>
            </a:r>
            <a:r>
              <a:rPr lang="en-US" sz="1600" dirty="0" err="1" smtClean="0">
                <a:latin typeface="Arial" pitchFamily="34" charset="0"/>
                <a:ea typeface="Cascadia Mono SemiBold" pitchFamily="49" charset="0"/>
                <a:cs typeface="Arial" pitchFamily="34" charset="0"/>
              </a:rPr>
              <a:t>curating</a:t>
            </a:r>
            <a:r>
              <a:rPr lang="en-US" sz="1600" dirty="0" smtClean="0">
                <a:latin typeface="Arial" pitchFamily="34" charset="0"/>
                <a:ea typeface="Cascadia Mono SemiBold" pitchFamily="49" charset="0"/>
                <a:cs typeface="Arial" pitchFamily="34" charset="0"/>
              </a:rPr>
              <a:t> information.    Database Design:        Develop a database schema to store movie details, user profiles, reviews, and ratings. Consider scalability and performance in your design.    User Registration and Profiles:        Implement a user registration system to allow users to create accounts. </a:t>
            </a:r>
            <a:r>
              <a:rPr lang="en-US" sz="1600" dirty="0" smtClean="0">
                <a:latin typeface="Arial" pitchFamily="34" charset="0"/>
                <a:ea typeface="Cascadia Mono SemiBold" pitchFamily="49" charset="0"/>
                <a:cs typeface="Arial" pitchFamily="34" charset="0"/>
              </a:rPr>
              <a:t>feedback </a:t>
            </a:r>
            <a:r>
              <a:rPr lang="en-US" sz="1600" dirty="0" smtClean="0">
                <a:latin typeface="Arial" pitchFamily="34" charset="0"/>
                <a:ea typeface="Cascadia Mono SemiBold" pitchFamily="49" charset="0"/>
                <a:cs typeface="Arial" pitchFamily="34" charset="0"/>
              </a:rPr>
              <a:t>from beta users to make </a:t>
            </a:r>
            <a:r>
              <a:rPr lang="en-US" sz="1600" dirty="0" smtClean="0">
                <a:latin typeface="Arial" pitchFamily="34" charset="0"/>
                <a:ea typeface="Cascadia Mono SemiBold" pitchFamily="49" charset="0"/>
                <a:cs typeface="Arial" pitchFamily="34" charset="0"/>
              </a:rPr>
              <a:t>improvements</a:t>
            </a:r>
            <a:endParaRPr lang="en-US" sz="1600" dirty="0">
              <a:latin typeface="Arial" pitchFamily="34" charset="0"/>
              <a:ea typeface="Cascadia Mono SemiBold" pitchFamily="49" charset="0"/>
              <a:cs typeface="Arial" pitchFamily="34" charset="0"/>
            </a:endParaRPr>
          </a:p>
        </p:txBody>
      </p:sp>
    </p:spTree>
    <p:extLst>
      <p:ext uri="{BB962C8B-B14F-4D97-AF65-F5344CB8AC3E}">
        <p14:creationId xmlns="" xmlns:p14="http://schemas.microsoft.com/office/powerpoint/2010/main" val="3985274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566A98F-BC27-6BED-8067-3E44CBBC862D}"/>
              </a:ext>
            </a:extLst>
          </p:cNvPr>
          <p:cNvSpPr>
            <a:spLocks noGrp="1"/>
          </p:cNvSpPr>
          <p:nvPr>
            <p:ph idx="1"/>
          </p:nvPr>
        </p:nvSpPr>
        <p:spPr>
          <a:xfrm>
            <a:off x="457200" y="332656"/>
            <a:ext cx="8229600" cy="6336704"/>
          </a:xfrm>
        </p:spPr>
        <p:txBody>
          <a:bodyPr>
            <a:normAutofit/>
          </a:bodyPr>
          <a:lstStyle/>
          <a:p>
            <a:r>
              <a:rPr lang="en-IN" sz="2000" b="1" dirty="0" smtClean="0"/>
              <a:t>ADVANTAGES  </a:t>
            </a:r>
          </a:p>
          <a:p>
            <a:endParaRPr lang="en-IN" sz="2000" b="1" dirty="0" smtClean="0"/>
          </a:p>
          <a:p>
            <a:r>
              <a:rPr lang="en-IN" sz="2000" dirty="0" smtClean="0"/>
              <a:t>Informed </a:t>
            </a:r>
            <a:r>
              <a:rPr lang="en-IN" sz="2000" dirty="0" err="1" smtClean="0"/>
              <a:t>desigion</a:t>
            </a:r>
            <a:r>
              <a:rPr lang="en-IN" sz="2000" dirty="0" smtClean="0"/>
              <a:t> making</a:t>
            </a:r>
          </a:p>
          <a:p>
            <a:r>
              <a:rPr lang="en-IN" sz="2000" dirty="0" smtClean="0"/>
              <a:t>Diverse perspectives</a:t>
            </a:r>
          </a:p>
          <a:p>
            <a:r>
              <a:rPr lang="en-IN" sz="2000" dirty="0" smtClean="0"/>
              <a:t>Community </a:t>
            </a:r>
            <a:r>
              <a:rPr lang="en-IN" sz="2000" dirty="0" err="1" smtClean="0"/>
              <a:t>ingagement</a:t>
            </a:r>
            <a:endParaRPr lang="en-IN" sz="2000" dirty="0" smtClean="0"/>
          </a:p>
          <a:p>
            <a:r>
              <a:rPr lang="en-IN" sz="2000" dirty="0" smtClean="0"/>
              <a:t>Discoverability</a:t>
            </a:r>
          </a:p>
          <a:p>
            <a:r>
              <a:rPr lang="en-IN" sz="2000" dirty="0" smtClean="0"/>
              <a:t>Timesaving</a:t>
            </a:r>
          </a:p>
          <a:p>
            <a:endParaRPr lang="en-IN" sz="2000" dirty="0" smtClean="0"/>
          </a:p>
          <a:p>
            <a:r>
              <a:rPr lang="en-IN" sz="2000" b="1" dirty="0" smtClean="0"/>
              <a:t>Disadvantages</a:t>
            </a:r>
          </a:p>
          <a:p>
            <a:endParaRPr lang="en-IN" sz="2000" b="1" dirty="0" smtClean="0"/>
          </a:p>
          <a:p>
            <a:r>
              <a:rPr lang="en-IN" sz="2000" dirty="0" smtClean="0"/>
              <a:t>Subjectively and </a:t>
            </a:r>
            <a:r>
              <a:rPr lang="en-IN" sz="2000" dirty="0" err="1" smtClean="0"/>
              <a:t>bais</a:t>
            </a:r>
            <a:endParaRPr lang="en-IN" sz="2000" dirty="0" smtClean="0"/>
          </a:p>
          <a:p>
            <a:r>
              <a:rPr lang="en-IN" sz="2000" dirty="0" smtClean="0"/>
              <a:t>Spoiler</a:t>
            </a:r>
          </a:p>
          <a:p>
            <a:r>
              <a:rPr lang="en-IN" sz="2000" dirty="0" err="1" smtClean="0"/>
              <a:t>Manuplation</a:t>
            </a:r>
            <a:r>
              <a:rPr lang="en-IN" sz="2000" dirty="0" smtClean="0"/>
              <a:t> </a:t>
            </a:r>
            <a:r>
              <a:rPr lang="en-IN" sz="2000" dirty="0" smtClean="0"/>
              <a:t>and fake reviews</a:t>
            </a:r>
          </a:p>
          <a:p>
            <a:r>
              <a:rPr lang="en-IN" sz="2000" dirty="0" err="1" smtClean="0"/>
              <a:t>Limeted</a:t>
            </a:r>
            <a:r>
              <a:rPr lang="en-IN" sz="2000" dirty="0" smtClean="0"/>
              <a:t> contest</a:t>
            </a:r>
          </a:p>
          <a:p>
            <a:r>
              <a:rPr lang="en-IN" sz="2000" dirty="0" smtClean="0"/>
              <a:t>Algorithmic biases</a:t>
            </a:r>
          </a:p>
          <a:p>
            <a:endParaRPr lang="en-IN" sz="2000" dirty="0" smtClean="0"/>
          </a:p>
          <a:p>
            <a:endParaRPr lang="en-IN" sz="2000" b="1" dirty="0"/>
          </a:p>
        </p:txBody>
      </p:sp>
    </p:spTree>
    <p:extLst>
      <p:ext uri="{BB962C8B-B14F-4D97-AF65-F5344CB8AC3E}">
        <p14:creationId xmlns="" xmlns:p14="http://schemas.microsoft.com/office/powerpoint/2010/main" val="754622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566A98F-BC27-6BED-8067-3E44CBBC862D}"/>
              </a:ext>
            </a:extLst>
          </p:cNvPr>
          <p:cNvSpPr>
            <a:spLocks noGrp="1"/>
          </p:cNvSpPr>
          <p:nvPr>
            <p:ph idx="1"/>
          </p:nvPr>
        </p:nvSpPr>
        <p:spPr>
          <a:xfrm>
            <a:off x="457200" y="332656"/>
            <a:ext cx="8229600" cy="6336704"/>
          </a:xfrm>
        </p:spPr>
        <p:txBody>
          <a:bodyPr>
            <a:normAutofit fontScale="25000" lnSpcReduction="20000"/>
          </a:bodyPr>
          <a:lstStyle/>
          <a:p>
            <a:r>
              <a:rPr lang="en-IN" sz="12800" b="1" dirty="0" smtClean="0"/>
              <a:t>GOALS</a:t>
            </a:r>
          </a:p>
          <a:p>
            <a:pPr>
              <a:buNone/>
            </a:pPr>
            <a:endParaRPr lang="en-IN" sz="6000" b="1" dirty="0" smtClean="0"/>
          </a:p>
          <a:p>
            <a:r>
              <a:rPr lang="en-US" sz="7200" dirty="0" smtClean="0"/>
              <a:t>Creating a movie rating website involves several key steps and considerations. Here's a general methodology to guide you through the process:    Define Your Goals:        Clarify the purpose of your movie rating website. Are you focusing on user reviews, critic reviews, or a combination of both? Do you want to provide additional features like personalized recommendations, user forums, or a </a:t>
            </a:r>
            <a:r>
              <a:rPr lang="en-US" sz="7200" dirty="0" err="1" smtClean="0"/>
              <a:t>watchlist</a:t>
            </a:r>
            <a:r>
              <a:rPr lang="en-US" sz="7200" dirty="0" smtClean="0"/>
              <a:t>?    Market Research:        Investigate existing movie rating websites to understand their features, strengths, and weaknesses. Identify gaps in the market that your website can fill. Consider the target audience and their preferences.    Legal Considerations:        Research and understand the legal aspects of displaying movie information, reviews, and ratings. Ensure compliance with copyright laws and terms of use for movie data.    Data Sources:        Decide where you'll source your movie data. Options include partnering with an existing movie database, using APIs from platforms like </a:t>
            </a:r>
            <a:r>
              <a:rPr lang="en-US" sz="7200" dirty="0" err="1" smtClean="0"/>
              <a:t>IMDb</a:t>
            </a:r>
            <a:r>
              <a:rPr lang="en-US" sz="7200" dirty="0" smtClean="0"/>
              <a:t>, or manually </a:t>
            </a:r>
            <a:r>
              <a:rPr lang="en-US" sz="7200" dirty="0" err="1" smtClean="0"/>
              <a:t>curating</a:t>
            </a:r>
            <a:r>
              <a:rPr lang="en-US" sz="7200" dirty="0" smtClean="0"/>
              <a:t> information.    Database Design:        Develop a database schema to store movie details, user profiles, reviews, and ratings. Consider scalability and performance in your design.    User Registration and Profiles:        Implement a user registration system to allow users to create accounts. User profiles can track their activities, preferences, and contributions.    User Interface (UI) and User Experience (UX):        Design an intuitive and visually appealing interface. Prioritize user experience, making it easy for users to find, rate, and review movies. Consider responsive design for various devices.    Search and Filtering:        Implement robust search functionality, allowing users to find movies based on different criteria like genre, release year, or actor. Provide filtering options to refine search results.    Rating System:        Create a reliable and transparent movie rating system. Decide whether to use a simple star rating or a more complex scoring mechanism. Consider allowing both </a:t>
            </a:r>
            <a:r>
              <a:rPr lang="en-US" sz="7200" dirty="0" smtClean="0"/>
              <a:t>critic and user ratings. </a:t>
            </a:r>
            <a:r>
              <a:rPr lang="en-US" sz="7200" dirty="0" smtClean="0"/>
              <a:t>   </a:t>
            </a:r>
            <a:endParaRPr lang="en-IN" sz="7200" dirty="0"/>
          </a:p>
        </p:txBody>
      </p:sp>
    </p:spTree>
    <p:extLst>
      <p:ext uri="{BB962C8B-B14F-4D97-AF65-F5344CB8AC3E}">
        <p14:creationId xmlns="" xmlns:p14="http://schemas.microsoft.com/office/powerpoint/2010/main" val="4248764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0"/>
            <a:ext cx="7886700" cy="1325563"/>
          </a:xfrm>
        </p:spPr>
        <p:txBody>
          <a:bodyPr>
            <a:normAutofit/>
          </a:bodyPr>
          <a:lstStyle/>
          <a:p>
            <a:pPr lvl="2" algn="l"/>
            <a:r>
              <a:rPr lang="en-US" sz="4000" kern="1200" dirty="0">
                <a:solidFill>
                  <a:schemeClr val="tx1"/>
                </a:solidFill>
                <a:latin typeface="+mj-lt"/>
                <a:ea typeface="+mj-ea"/>
                <a:cs typeface="+mj-cs"/>
              </a:rPr>
              <a:t> Objective </a:t>
            </a:r>
            <a:r>
              <a:rPr lang="en-US" sz="2800" dirty="0">
                <a:latin typeface="Times New Roman" pitchFamily="18" charset="0"/>
                <a:cs typeface="Times New Roman" pitchFamily="18" charset="0"/>
              </a:rPr>
              <a:t/>
            </a:r>
            <a:br>
              <a:rPr lang="en-US" sz="2800"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628650" y="1340768"/>
            <a:ext cx="7886700" cy="4836195"/>
          </a:xfrm>
        </p:spPr>
        <p:txBody>
          <a:bodyPr>
            <a:normAutofit/>
          </a:bodyPr>
          <a:lstStyle/>
          <a:p>
            <a:r>
              <a:rPr lang="en-US" sz="1400" dirty="0" smtClean="0">
                <a:latin typeface="Söhne"/>
              </a:rPr>
              <a:t>The primary objective of [Your Movie Rating Website] is to empower movie enthusiasts with a comprehensive and community-driven platform that enhances their overall cinematic experience. Our goals </a:t>
            </a:r>
            <a:r>
              <a:rPr lang="en-US" sz="1400" dirty="0" err="1" smtClean="0">
                <a:latin typeface="Söhne"/>
              </a:rPr>
              <a:t>are:Informed</a:t>
            </a:r>
            <a:r>
              <a:rPr lang="en-US" sz="1400" dirty="0" smtClean="0">
                <a:latin typeface="Söhne"/>
              </a:rPr>
              <a:t> Decision-</a:t>
            </a:r>
            <a:r>
              <a:rPr lang="en-US" sz="1400" dirty="0" err="1" smtClean="0">
                <a:latin typeface="Söhne"/>
              </a:rPr>
              <a:t>Making:Provide</a:t>
            </a:r>
            <a:r>
              <a:rPr lang="en-US" sz="1400" dirty="0" smtClean="0">
                <a:latin typeface="Söhne"/>
              </a:rPr>
              <a:t> users with reliable and insightful information, including user reviews and ratings, to assist them in making informed decisions about the movies they choose to </a:t>
            </a:r>
            <a:r>
              <a:rPr lang="en-US" sz="1400" dirty="0" err="1" smtClean="0">
                <a:latin typeface="Söhne"/>
              </a:rPr>
              <a:t>watch.Community</a:t>
            </a:r>
            <a:r>
              <a:rPr lang="en-US" sz="1400" dirty="0" smtClean="0">
                <a:latin typeface="Söhne"/>
              </a:rPr>
              <a:t> </a:t>
            </a:r>
            <a:r>
              <a:rPr lang="en-US" sz="1400" dirty="0" err="1" smtClean="0">
                <a:latin typeface="Söhne"/>
              </a:rPr>
              <a:t>Engagement:Foster</a:t>
            </a:r>
            <a:r>
              <a:rPr lang="en-US" sz="1400" dirty="0" smtClean="0">
                <a:latin typeface="Söhne"/>
              </a:rPr>
              <a:t> a vibrant and inclusive community where users can share their opinions, engage in discussions, and contribute to a collective understanding of diverse cinematic </a:t>
            </a:r>
            <a:r>
              <a:rPr lang="en-US" sz="1400" dirty="0" err="1" smtClean="0">
                <a:latin typeface="Söhne"/>
              </a:rPr>
              <a:t>tastes.User</a:t>
            </a:r>
            <a:r>
              <a:rPr lang="en-US" sz="1400" dirty="0" smtClean="0">
                <a:latin typeface="Söhne"/>
              </a:rPr>
              <a:t>-Friendly </a:t>
            </a:r>
            <a:r>
              <a:rPr lang="en-US" sz="1400" dirty="0" err="1" smtClean="0">
                <a:latin typeface="Söhne"/>
              </a:rPr>
              <a:t>Experience:Deliver</a:t>
            </a:r>
            <a:r>
              <a:rPr lang="en-US" sz="1400" dirty="0" smtClean="0">
                <a:latin typeface="Söhne"/>
              </a:rPr>
              <a:t> a seamless and intuitive user experience through a well-designed platform, ensuring easy navigation, accessibility, and a visually appealing </a:t>
            </a:r>
            <a:r>
              <a:rPr lang="en-US" sz="1400" dirty="0" err="1" smtClean="0">
                <a:latin typeface="Söhne"/>
              </a:rPr>
              <a:t>interface.Personalization:Tailor</a:t>
            </a:r>
            <a:r>
              <a:rPr lang="en-US" sz="1400" dirty="0" smtClean="0">
                <a:latin typeface="Söhne"/>
              </a:rPr>
              <a:t> recommendations based on individual user preferences, creating a personalized and </a:t>
            </a:r>
            <a:r>
              <a:rPr lang="en-US" sz="1400" dirty="0" err="1" smtClean="0">
                <a:latin typeface="Söhne"/>
              </a:rPr>
              <a:t>curated</a:t>
            </a:r>
            <a:r>
              <a:rPr lang="en-US" sz="1400" dirty="0" smtClean="0">
                <a:latin typeface="Söhne"/>
              </a:rPr>
              <a:t> movie-watching journey for each </a:t>
            </a:r>
            <a:r>
              <a:rPr lang="en-US" sz="1400" dirty="0" err="1" smtClean="0">
                <a:latin typeface="Söhne"/>
              </a:rPr>
              <a:t>user.Credibility</a:t>
            </a:r>
            <a:r>
              <a:rPr lang="en-US" sz="1400" dirty="0" smtClean="0">
                <a:latin typeface="Söhne"/>
              </a:rPr>
              <a:t> and </a:t>
            </a:r>
            <a:r>
              <a:rPr lang="en-US" sz="1400" dirty="0" err="1" smtClean="0">
                <a:latin typeface="Söhne"/>
              </a:rPr>
              <a:t>Trust:Establish</a:t>
            </a:r>
            <a:r>
              <a:rPr lang="en-US" sz="1400" dirty="0" smtClean="0">
                <a:latin typeface="Söhne"/>
              </a:rPr>
              <a:t> and maintain a reputation for credibility by incorporating transparent rating systems, verified user reviews, and partnerships with trusted sources in the film </a:t>
            </a:r>
            <a:r>
              <a:rPr lang="en-US" sz="1400" dirty="0" err="1" smtClean="0">
                <a:latin typeface="Söhne"/>
              </a:rPr>
              <a:t>industry.Discoverability:Facilitate</a:t>
            </a:r>
            <a:r>
              <a:rPr lang="en-US" sz="1400" dirty="0" smtClean="0">
                <a:latin typeface="Söhne"/>
              </a:rPr>
              <a:t> the discovery of a wide range of movies, including mainstream hits, independent films, and niche genres, encouraging users to explore and broaden their cinematic </a:t>
            </a:r>
            <a:r>
              <a:rPr lang="en-US" sz="1400" dirty="0" err="1" smtClean="0">
                <a:latin typeface="Söhne"/>
              </a:rPr>
              <a:t>horizons.Collaborations</a:t>
            </a:r>
            <a:r>
              <a:rPr lang="en-US" sz="1400" dirty="0" smtClean="0">
                <a:latin typeface="Söhne"/>
              </a:rPr>
              <a:t> and </a:t>
            </a:r>
            <a:r>
              <a:rPr lang="en-US" sz="1400" dirty="0" err="1" smtClean="0">
                <a:latin typeface="Söhne"/>
              </a:rPr>
              <a:t>Partnerships:Forge</a:t>
            </a:r>
            <a:r>
              <a:rPr lang="en-US" sz="1400" dirty="0" smtClean="0">
                <a:latin typeface="Söhne"/>
              </a:rPr>
              <a:t> strategic collaborations and partnerships within the entertainment industry to enhance the platform's content, credibility, and the overall user </a:t>
            </a:r>
            <a:r>
              <a:rPr lang="en-US" sz="1400" dirty="0" err="1" smtClean="0">
                <a:latin typeface="Söhne"/>
              </a:rPr>
              <a:t>experience.Continuous</a:t>
            </a:r>
            <a:r>
              <a:rPr lang="en-US" sz="1400" dirty="0" smtClean="0">
                <a:latin typeface="Söhne"/>
              </a:rPr>
              <a:t> </a:t>
            </a:r>
            <a:r>
              <a:rPr lang="en-US" sz="1400" dirty="0" err="1" smtClean="0">
                <a:latin typeface="Söhne"/>
              </a:rPr>
              <a:t>Improvement:Commit</a:t>
            </a:r>
            <a:r>
              <a:rPr lang="en-US" sz="1400" dirty="0" smtClean="0">
                <a:latin typeface="Söhne"/>
              </a:rPr>
              <a:t> to ongoing enhancements and updates, incorporating user feedback, technological advancements, and industry trends to ensure the platform remains dynamic and </a:t>
            </a:r>
            <a:r>
              <a:rPr lang="en-US" sz="1400" dirty="0" err="1" smtClean="0">
                <a:latin typeface="Söhne"/>
              </a:rPr>
              <a:t>relevant.By</a:t>
            </a:r>
            <a:r>
              <a:rPr lang="en-US" sz="1400" dirty="0" smtClean="0">
                <a:latin typeface="Söhne"/>
              </a:rPr>
              <a:t> aligning our efforts with these objectives, [Your Movie Rating Website] aims to be the go-to destination for individuals seeking not just movies but an immersive and enriching cinematic journey guided by the wisdom of the communication</a:t>
            </a:r>
            <a:endParaRPr lang="en-US" sz="1400" i="0" dirty="0">
              <a:effectLst/>
              <a:latin typeface="Söhn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628650" y="0"/>
            <a:ext cx="7886700" cy="1690689"/>
          </a:xfrm>
        </p:spPr>
        <p:txBody>
          <a:bodyPr/>
          <a:lstStyle/>
          <a:p>
            <a:r>
              <a:rPr lang="en-IN" b="1" dirty="0" smtClean="0"/>
              <a:t>TECHNOLOGY</a:t>
            </a:r>
            <a:r>
              <a:rPr lang="en-IN" dirty="0" smtClean="0"/>
              <a:t> </a:t>
            </a:r>
            <a:r>
              <a:rPr lang="en-IN" b="1" dirty="0" smtClean="0"/>
              <a:t>USED</a:t>
            </a:r>
            <a:endParaRPr lang="en-US" dirty="0"/>
          </a:p>
        </p:txBody>
      </p:sp>
      <p:sp>
        <p:nvSpPr>
          <p:cNvPr id="8" name="Content Placeholder 7"/>
          <p:cNvSpPr>
            <a:spLocks noGrp="1"/>
          </p:cNvSpPr>
          <p:nvPr>
            <p:ph idx="1"/>
          </p:nvPr>
        </p:nvSpPr>
        <p:spPr>
          <a:xfrm>
            <a:off x="628650" y="1052736"/>
            <a:ext cx="7886700" cy="5805264"/>
          </a:xfrm>
        </p:spPr>
        <p:txBody>
          <a:bodyPr>
            <a:normAutofit/>
          </a:bodyPr>
          <a:lstStyle/>
          <a:p>
            <a:r>
              <a:rPr lang="en-US" sz="1400" dirty="0" smtClean="0"/>
              <a:t>Building a movie rating website involves using a combination of frontend and backend technologies to create a seamless and interactive user experience. Here's a breakdown of the technologies commonly used for different aspects of a movie rating </a:t>
            </a:r>
            <a:r>
              <a:rPr lang="en-US" sz="1400" dirty="0" err="1" smtClean="0"/>
              <a:t>website:Frontend</a:t>
            </a:r>
            <a:r>
              <a:rPr lang="en-US" sz="1400" dirty="0" smtClean="0"/>
              <a:t> Technologies:    HTML, CSS, JavaScript:        The basic building blocks for creating the structure, style, and interactivity of your website.    React, Angular, or Vue.js:        JavaScript frameworks for building dynamic and responsive user interfaces. They enable the creation of single-page applications (SPAs) that enhance user experience.    Bootstrap or other CSS frameworks:        Helps in designing a responsive and visually appealing frontend layout.    AJAX (Asynchronous JavaScript and XML):        Enables asynchronous data retrieval, allowing dynamic updates without reloading the entire </a:t>
            </a:r>
            <a:r>
              <a:rPr lang="en-US" sz="1400" dirty="0" err="1" smtClean="0"/>
              <a:t>page.Backend</a:t>
            </a:r>
            <a:r>
              <a:rPr lang="en-US" sz="1400" dirty="0" smtClean="0"/>
              <a:t> Technologies:    Server-side language (e.g., Node.js, Python, Ruby, PHP):        Handles server-side logic and interacts with the database. Choose a language that aligns with your development team's expertise and the requirements of your project.    Express.js (for Node.js), Flask/</a:t>
            </a:r>
            <a:r>
              <a:rPr lang="en-US" sz="1400" dirty="0" err="1" smtClean="0"/>
              <a:t>Django</a:t>
            </a:r>
            <a:r>
              <a:rPr lang="en-US" sz="1400" dirty="0" smtClean="0"/>
              <a:t> (for Python), Ruby on Rails (for Ruby):        Frameworks that simplify backend development by providing pre-built modules and a structure for building web applications.    Database (e.g., </a:t>
            </a:r>
            <a:r>
              <a:rPr lang="en-US" sz="1400" dirty="0" err="1" smtClean="0"/>
              <a:t>MySQL</a:t>
            </a:r>
            <a:r>
              <a:rPr lang="en-US" sz="1400" dirty="0" smtClean="0"/>
              <a:t>, </a:t>
            </a:r>
            <a:r>
              <a:rPr lang="en-US" sz="1400" dirty="0" err="1" smtClean="0"/>
              <a:t>PostgreSQL</a:t>
            </a:r>
            <a:r>
              <a:rPr lang="en-US" sz="1400" dirty="0" smtClean="0"/>
              <a:t>, </a:t>
            </a:r>
            <a:r>
              <a:rPr lang="en-US" sz="1400" dirty="0" err="1" smtClean="0"/>
              <a:t>MongoDB</a:t>
            </a:r>
            <a:r>
              <a:rPr lang="en-US" sz="1400" dirty="0" smtClean="0"/>
              <a:t>):        Stores information such as movie details, user profiles, reviews, and ratings.    APIs (Application Programming Interfaces):        Integrate with movie databases or third-party services to fetch up-to-date information about movies. For example, you might use APIs from platforms like </a:t>
            </a:r>
            <a:r>
              <a:rPr lang="en-US" sz="1400" dirty="0" err="1" smtClean="0"/>
              <a:t>IMDb</a:t>
            </a:r>
            <a:r>
              <a:rPr lang="en-US" sz="1400" dirty="0" smtClean="0"/>
              <a:t> or The Movie Database (</a:t>
            </a:r>
            <a:r>
              <a:rPr lang="en-US" sz="1400" dirty="0" err="1" smtClean="0"/>
              <a:t>TMDb</a:t>
            </a:r>
            <a:r>
              <a:rPr lang="en-US" sz="1400" dirty="0" smtClean="0"/>
              <a:t>).    </a:t>
            </a:r>
            <a:r>
              <a:rPr lang="en-US" sz="1400" dirty="0" err="1" smtClean="0"/>
              <a:t>RESTful</a:t>
            </a:r>
            <a:r>
              <a:rPr lang="en-US" sz="1400" dirty="0" smtClean="0"/>
              <a:t> API Design:        Implement a </a:t>
            </a:r>
            <a:r>
              <a:rPr lang="en-US" sz="1400" dirty="0" err="1" smtClean="0"/>
              <a:t>RESTful</a:t>
            </a:r>
            <a:r>
              <a:rPr lang="en-US" sz="1400" dirty="0" smtClean="0"/>
              <a:t> API to facilitate communication between the frontend and backend. This enables the retrieval and manipulation of </a:t>
            </a:r>
            <a:r>
              <a:rPr lang="en-US" sz="1400" dirty="0" err="1" smtClean="0"/>
              <a:t>data.Authentication</a:t>
            </a:r>
            <a:r>
              <a:rPr lang="en-US" sz="1400" dirty="0" smtClean="0"/>
              <a:t> and Authorization:    JWT (JSON Web Tokens) or </a:t>
            </a:r>
            <a:r>
              <a:rPr lang="en-US" sz="1400" dirty="0" err="1" smtClean="0"/>
              <a:t>OAuth</a:t>
            </a:r>
            <a:r>
              <a:rPr lang="en-US" sz="1400" dirty="0" smtClean="0"/>
              <a:t>:        Implement secure authentication and authorization mechanisms to manage user accounts and protect sensitive </a:t>
            </a:r>
            <a:r>
              <a:rPr lang="en-US" sz="1400" dirty="0" err="1" smtClean="0"/>
              <a:t>information.Storage</a:t>
            </a:r>
            <a:r>
              <a:rPr lang="en-US" sz="1400" dirty="0" smtClean="0"/>
              <a:t>:    Cloud Storage (e.g., Amazon S3, Google Cloud Storage):        Store and manage user-uploaded images, posters, or other media </a:t>
            </a:r>
            <a:r>
              <a:rPr lang="en-US" sz="1400" dirty="0" err="1" smtClean="0"/>
              <a:t>files.Additional</a:t>
            </a:r>
            <a:r>
              <a:rPr lang="en-US" sz="1400" dirty="0" smtClean="0"/>
              <a:t> Technologies:    </a:t>
            </a:r>
            <a:r>
              <a:rPr lang="en-US" sz="1400" dirty="0" err="1" smtClean="0"/>
              <a:t>WebSockets</a:t>
            </a:r>
            <a:r>
              <a:rPr lang="en-US" sz="1400" dirty="0" smtClean="0"/>
              <a:t>:        Implement real-time features like live updates, chat, or notifications.    Caching (e.g., </a:t>
            </a:r>
            <a:r>
              <a:rPr lang="en-US" sz="1400" dirty="0" err="1" smtClean="0"/>
              <a:t>Redis</a:t>
            </a:r>
            <a:r>
              <a:rPr lang="en-US" sz="1400" dirty="0" smtClean="0"/>
              <a:t>):        Improve website performance by caching frequently accessed data.    Web Servers (e.g., </a:t>
            </a:r>
            <a:r>
              <a:rPr lang="en-US" sz="1400" dirty="0" err="1" smtClean="0"/>
              <a:t>Nginx</a:t>
            </a:r>
            <a:r>
              <a:rPr lang="en-US" sz="1400" dirty="0" smtClean="0"/>
              <a:t>, Apache):        Serve static files and manage requests to </a:t>
            </a:r>
            <a:r>
              <a:rPr lang="en-US" sz="1400" dirty="0" smtClean="0"/>
              <a:t>your </a:t>
            </a:r>
            <a:r>
              <a:rPr lang="en-US" sz="1400" dirty="0" err="1" smtClean="0"/>
              <a:t>applicationa</a:t>
            </a:r>
            <a:endParaRPr lang="en-US" sz="1400" dirty="0"/>
          </a:p>
        </p:txBody>
      </p:sp>
    </p:spTree>
    <p:extLst>
      <p:ext uri="{BB962C8B-B14F-4D97-AF65-F5344CB8AC3E}">
        <p14:creationId xmlns="" xmlns:p14="http://schemas.microsoft.com/office/powerpoint/2010/main" val="412973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u="sng" dirty="0">
                <a:latin typeface="Times New Roman" pitchFamily="18" charset="0"/>
                <a:ea typeface="Calibri" pitchFamily="34" charset="0"/>
                <a:cs typeface="Times New Roman" pitchFamily="18" charset="0"/>
              </a:rPr>
              <a:t>Work Plan </a:t>
            </a:r>
            <a:r>
              <a:rPr lang="en-US" sz="2400" dirty="0">
                <a:latin typeface="Arial" pitchFamily="34" charset="0"/>
                <a:cs typeface="Arial" pitchFamily="34" charset="0"/>
              </a:rPr>
              <a:t/>
            </a:r>
            <a:br>
              <a:rPr lang="en-US" sz="2400" dirty="0">
                <a:latin typeface="Arial" pitchFamily="34" charset="0"/>
                <a:cs typeface="Arial" pitchFamily="34" charset="0"/>
              </a:rPr>
            </a:br>
            <a:endParaRPr lang="en-IN" dirty="0"/>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2846209768"/>
              </p:ext>
            </p:extLst>
          </p:nvPr>
        </p:nvGraphicFramePr>
        <p:xfrm>
          <a:off x="785786" y="1214420"/>
          <a:ext cx="6720549" cy="3812309"/>
        </p:xfrm>
        <a:graphic>
          <a:graphicData uri="http://schemas.openxmlformats.org/drawingml/2006/table">
            <a:tbl>
              <a:tblPr/>
              <a:tblGrid>
                <a:gridCol w="697361">
                  <a:extLst>
                    <a:ext uri="{9D8B030D-6E8A-4147-A177-3AD203B41FA5}">
                      <a16:colId xmlns="" xmlns:a16="http://schemas.microsoft.com/office/drawing/2014/main" val="20000"/>
                    </a:ext>
                  </a:extLst>
                </a:gridCol>
                <a:gridCol w="1752491">
                  <a:extLst>
                    <a:ext uri="{9D8B030D-6E8A-4147-A177-3AD203B41FA5}">
                      <a16:colId xmlns="" xmlns:a16="http://schemas.microsoft.com/office/drawing/2014/main" val="20001"/>
                    </a:ext>
                  </a:extLst>
                </a:gridCol>
                <a:gridCol w="1339456">
                  <a:extLst>
                    <a:ext uri="{9D8B030D-6E8A-4147-A177-3AD203B41FA5}">
                      <a16:colId xmlns="" xmlns:a16="http://schemas.microsoft.com/office/drawing/2014/main" val="20002"/>
                    </a:ext>
                  </a:extLst>
                </a:gridCol>
                <a:gridCol w="2931241">
                  <a:extLst>
                    <a:ext uri="{9D8B030D-6E8A-4147-A177-3AD203B41FA5}">
                      <a16:colId xmlns="" xmlns:a16="http://schemas.microsoft.com/office/drawing/2014/main" val="20003"/>
                    </a:ext>
                  </a:extLst>
                </a:gridCol>
              </a:tblGrid>
              <a:tr h="436566">
                <a:tc>
                  <a:txBody>
                    <a:bodyPr/>
                    <a:lstStyle/>
                    <a:p>
                      <a:pPr algn="just">
                        <a:lnSpc>
                          <a:spcPct val="115000"/>
                        </a:lnSpc>
                        <a:spcAft>
                          <a:spcPts val="0"/>
                        </a:spcAft>
                      </a:pPr>
                      <a:r>
                        <a:rPr lang="en-IN" sz="1200" dirty="0">
                          <a:latin typeface="Times New Roman"/>
                          <a:ea typeface="Calibri"/>
                          <a:cs typeface="Times New Roman"/>
                        </a:rPr>
                        <a:t>S.NO</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Particulars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Duration</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Outcome</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841910">
                <a:tc>
                  <a:txBody>
                    <a:bodyPr/>
                    <a:lstStyle/>
                    <a:p>
                      <a:pPr algn="just">
                        <a:lnSpc>
                          <a:spcPct val="115000"/>
                        </a:lnSpc>
                        <a:spcAft>
                          <a:spcPts val="0"/>
                        </a:spcAft>
                      </a:pPr>
                      <a:r>
                        <a:rPr lang="en-IN" sz="1200">
                          <a:latin typeface="Times New Roman"/>
                          <a:ea typeface="Calibri"/>
                          <a:cs typeface="Times New Roman"/>
                        </a:rPr>
                        <a:t>1</a:t>
                      </a:r>
                      <a:endParaRPr lang="en-IN"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err="1" smtClean="0">
                          <a:latin typeface="Calibri"/>
                          <a:ea typeface="Calibri"/>
                          <a:cs typeface="Times New Roman"/>
                        </a:rPr>
                        <a:t>Desining</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smtClean="0">
                          <a:latin typeface="Calibri"/>
                          <a:ea typeface="Calibri"/>
                          <a:cs typeface="Times New Roman"/>
                        </a:rPr>
                        <a:t>2</a:t>
                      </a:r>
                      <a:r>
                        <a:rPr lang="en-IN" sz="1100" baseline="0" dirty="0" smtClean="0">
                          <a:latin typeface="Calibri"/>
                          <a:ea typeface="Calibri"/>
                          <a:cs typeface="Times New Roman"/>
                        </a:rPr>
                        <a:t> days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smtClean="0">
                          <a:latin typeface="Calibri"/>
                          <a:ea typeface="Calibri"/>
                          <a:cs typeface="Times New Roman"/>
                        </a:rPr>
                        <a:t>Determine</a:t>
                      </a:r>
                      <a:r>
                        <a:rPr lang="en-IN" sz="1100" baseline="0" dirty="0" smtClean="0">
                          <a:latin typeface="Calibri"/>
                          <a:ea typeface="Calibri"/>
                          <a:cs typeface="Times New Roman"/>
                        </a:rPr>
                        <a:t> </a:t>
                      </a:r>
                      <a:r>
                        <a:rPr lang="en-IN" sz="1100" baseline="0" dirty="0" err="1" smtClean="0">
                          <a:latin typeface="Calibri"/>
                          <a:ea typeface="Calibri"/>
                          <a:cs typeface="Times New Roman"/>
                        </a:rPr>
                        <a:t>outecoms,identify</a:t>
                      </a:r>
                      <a:r>
                        <a:rPr lang="en-IN" sz="1100" baseline="0" dirty="0" smtClean="0">
                          <a:latin typeface="Calibri"/>
                          <a:ea typeface="Calibri"/>
                          <a:cs typeface="Times New Roman"/>
                        </a:rPr>
                        <a:t> risk and </a:t>
                      </a:r>
                      <a:r>
                        <a:rPr lang="en-IN" sz="1100" baseline="0" dirty="0" err="1" smtClean="0">
                          <a:latin typeface="Calibri"/>
                          <a:ea typeface="Calibri"/>
                          <a:cs typeface="Times New Roman"/>
                        </a:rPr>
                        <a:t>constrains,create</a:t>
                      </a:r>
                      <a:r>
                        <a:rPr lang="en-IN" sz="1100" baseline="0" dirty="0" smtClean="0">
                          <a:latin typeface="Calibri"/>
                          <a:ea typeface="Calibri"/>
                          <a:cs typeface="Times New Roman"/>
                        </a:rPr>
                        <a:t> a contingency plan</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576064">
                <a:tc>
                  <a:txBody>
                    <a:bodyPr/>
                    <a:lstStyle/>
                    <a:p>
                      <a:pPr algn="just">
                        <a:lnSpc>
                          <a:spcPct val="115000"/>
                        </a:lnSpc>
                        <a:spcAft>
                          <a:spcPts val="0"/>
                        </a:spcAft>
                      </a:pPr>
                      <a:r>
                        <a:rPr lang="en-IN" sz="1200" dirty="0">
                          <a:latin typeface="Times New Roman"/>
                          <a:ea typeface="Calibri"/>
                          <a:cs typeface="Times New Roman"/>
                        </a:rPr>
                        <a:t>2</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smtClean="0">
                          <a:latin typeface="Calibri"/>
                          <a:ea typeface="Calibri"/>
                          <a:cs typeface="Times New Roman"/>
                        </a:rPr>
                        <a:t>Front</a:t>
                      </a:r>
                      <a:r>
                        <a:rPr lang="en-IN" sz="1100" baseline="0" dirty="0" smtClean="0">
                          <a:latin typeface="Calibri"/>
                          <a:ea typeface="Calibri"/>
                          <a:cs typeface="Times New Roman"/>
                        </a:rPr>
                        <a:t> end </a:t>
                      </a:r>
                    </a:p>
                    <a:p>
                      <a:pPr algn="just">
                        <a:lnSpc>
                          <a:spcPct val="115000"/>
                        </a:lnSpc>
                        <a:spcAft>
                          <a:spcPts val="0"/>
                        </a:spcAft>
                      </a:pPr>
                      <a:r>
                        <a:rPr lang="en-IN" sz="1100" baseline="0" dirty="0" smtClean="0">
                          <a:latin typeface="Calibri"/>
                          <a:ea typeface="Calibri"/>
                          <a:cs typeface="Times New Roman"/>
                        </a:rPr>
                        <a:t>Back end</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4 – </a:t>
                      </a:r>
                      <a:r>
                        <a:rPr lang="en-IN" sz="1100">
                          <a:latin typeface="Calibri"/>
                          <a:ea typeface="Calibri"/>
                          <a:cs typeface="Times New Roman"/>
                        </a:rPr>
                        <a:t>5 days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smtClean="0">
                          <a:latin typeface="Times New Roman"/>
                          <a:ea typeface="Calibri"/>
                          <a:cs typeface="Times New Roman"/>
                        </a:rPr>
                        <a:t>The</a:t>
                      </a:r>
                      <a:r>
                        <a:rPr lang="en-IN" sz="1200" baseline="0" dirty="0" smtClean="0">
                          <a:latin typeface="Times New Roman"/>
                          <a:ea typeface="Calibri"/>
                          <a:cs typeface="Times New Roman"/>
                        </a:rPr>
                        <a:t> </a:t>
                      </a:r>
                      <a:r>
                        <a:rPr lang="en-IN" sz="1200" baseline="0" dirty="0" err="1" smtClean="0">
                          <a:latin typeface="Times New Roman"/>
                          <a:ea typeface="Calibri"/>
                          <a:cs typeface="Times New Roman"/>
                        </a:rPr>
                        <a:t>cineverse</a:t>
                      </a:r>
                      <a:r>
                        <a:rPr lang="en-IN" sz="1200" baseline="0" dirty="0" smtClean="0">
                          <a:latin typeface="Times New Roman"/>
                          <a:ea typeface="Calibri"/>
                          <a:cs typeface="Times New Roman"/>
                        </a:rPr>
                        <a:t> run according to the code </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648072">
                <a:tc>
                  <a:txBody>
                    <a:bodyPr/>
                    <a:lstStyle/>
                    <a:p>
                      <a:pPr algn="just">
                        <a:lnSpc>
                          <a:spcPct val="115000"/>
                        </a:lnSpc>
                        <a:spcAft>
                          <a:spcPts val="0"/>
                        </a:spcAft>
                      </a:pPr>
                      <a:r>
                        <a:rPr lang="en-IN" sz="1200" dirty="0">
                          <a:latin typeface="Times New Roman"/>
                          <a:ea typeface="Calibri"/>
                          <a:cs typeface="Times New Roman"/>
                        </a:rPr>
                        <a:t>3</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smtClean="0">
                          <a:latin typeface="Calibri"/>
                          <a:ea typeface="Calibri"/>
                          <a:cs typeface="Times New Roman"/>
                        </a:rPr>
                        <a:t>Testing</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2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smtClean="0">
                          <a:latin typeface="Calibri"/>
                          <a:ea typeface="Calibri"/>
                          <a:cs typeface="Times New Roman"/>
                        </a:rPr>
                        <a:t>Testing</a:t>
                      </a:r>
                      <a:r>
                        <a:rPr lang="en-IN" sz="1100" baseline="0" dirty="0" smtClean="0">
                          <a:latin typeface="Calibri"/>
                          <a:ea typeface="Calibri"/>
                          <a:cs typeface="Times New Roman"/>
                        </a:rPr>
                        <a:t> </a:t>
                      </a:r>
                      <a:r>
                        <a:rPr lang="en-IN" sz="1100" dirty="0" err="1" smtClean="0">
                          <a:latin typeface="Calibri"/>
                          <a:ea typeface="Calibri"/>
                          <a:cs typeface="Times New Roman"/>
                        </a:rPr>
                        <a:t>code,testing</a:t>
                      </a:r>
                      <a:r>
                        <a:rPr lang="en-IN" sz="1100" dirty="0" smtClean="0">
                          <a:latin typeface="Calibri"/>
                          <a:ea typeface="Calibri"/>
                          <a:cs typeface="Times New Roman"/>
                        </a:rPr>
                        <a:t> </a:t>
                      </a:r>
                      <a:r>
                        <a:rPr lang="en-IN" sz="1100" dirty="0" err="1" smtClean="0">
                          <a:latin typeface="Calibri"/>
                          <a:ea typeface="Calibri"/>
                          <a:cs typeface="Times New Roman"/>
                        </a:rPr>
                        <a:t>tools,testing</a:t>
                      </a:r>
                      <a:r>
                        <a:rPr lang="en-IN" sz="1100" dirty="0" smtClean="0">
                          <a:latin typeface="Calibri"/>
                          <a:ea typeface="Calibri"/>
                          <a:cs typeface="Times New Roman"/>
                        </a:rPr>
                        <a:t> </a:t>
                      </a:r>
                      <a:r>
                        <a:rPr lang="en-IN" sz="1100" dirty="0" err="1" smtClean="0">
                          <a:latin typeface="Calibri"/>
                          <a:ea typeface="Calibri"/>
                          <a:cs typeface="Times New Roman"/>
                        </a:rPr>
                        <a:t>scenarios,testing</a:t>
                      </a:r>
                      <a:r>
                        <a:rPr lang="en-IN" sz="1100" dirty="0" smtClean="0">
                          <a:latin typeface="Calibri"/>
                          <a:ea typeface="Calibri"/>
                          <a:cs typeface="Times New Roman"/>
                        </a:rPr>
                        <a:t> objectives,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873131">
                <a:tc>
                  <a:txBody>
                    <a:bodyPr/>
                    <a:lstStyle/>
                    <a:p>
                      <a:pPr algn="just">
                        <a:lnSpc>
                          <a:spcPct val="115000"/>
                        </a:lnSpc>
                        <a:spcAft>
                          <a:spcPts val="0"/>
                        </a:spcAft>
                      </a:pPr>
                      <a:r>
                        <a:rPr lang="en-IN" sz="1200" dirty="0">
                          <a:latin typeface="Times New Roman"/>
                          <a:ea typeface="Calibri"/>
                          <a:cs typeface="Times New Roman"/>
                        </a:rPr>
                        <a:t>4</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en-IN" sz="1200" dirty="0" smtClean="0">
                          <a:latin typeface="Times New Roman"/>
                          <a:ea typeface="Calibri"/>
                          <a:cs typeface="Times New Roman"/>
                        </a:rPr>
                        <a:t>Documentation</a:t>
                      </a:r>
                      <a:endParaRPr lang="en-IN" sz="1100" dirty="0">
                        <a:latin typeface="+mn-lt"/>
                        <a:ea typeface="Calibri"/>
                        <a:cs typeface="Times New Roman"/>
                      </a:endParaRPr>
                    </a:p>
                    <a:p>
                      <a:pPr algn="just">
                        <a:lnSpc>
                          <a:spcPct val="115000"/>
                        </a:lnSpc>
                        <a:spcAft>
                          <a:spcPts val="0"/>
                        </a:spcAft>
                      </a:pP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6 hours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smtClean="0">
                          <a:latin typeface="Calibri"/>
                          <a:ea typeface="Calibri"/>
                          <a:cs typeface="Times New Roman"/>
                        </a:rPr>
                        <a:t>Manage website </a:t>
                      </a:r>
                      <a:r>
                        <a:rPr lang="en-IN" sz="1100" dirty="0" err="1" smtClean="0">
                          <a:latin typeface="Calibri"/>
                          <a:ea typeface="Calibri"/>
                          <a:cs typeface="Times New Roman"/>
                        </a:rPr>
                        <a:t>docoments</a:t>
                      </a:r>
                      <a:r>
                        <a:rPr lang="en-IN" sz="1100" dirty="0" smtClean="0">
                          <a:latin typeface="Calibri"/>
                          <a:ea typeface="Calibri"/>
                          <a:cs typeface="Times New Roman"/>
                        </a:rPr>
                        <a:t> and organizes</a:t>
                      </a:r>
                      <a:r>
                        <a:rPr lang="en-IN" sz="1100" baseline="0" dirty="0" smtClean="0">
                          <a:latin typeface="Calibri"/>
                          <a:ea typeface="Calibri"/>
                          <a:cs typeface="Times New Roman"/>
                        </a:rPr>
                        <a:t> archived  documents for team mates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436566">
                <a:tc>
                  <a:txBody>
                    <a:bodyPr/>
                    <a:lstStyle/>
                    <a:p>
                      <a:pPr algn="just">
                        <a:lnSpc>
                          <a:spcPct val="115000"/>
                        </a:lnSpc>
                        <a:spcAft>
                          <a:spcPts val="0"/>
                        </a:spcAft>
                      </a:pPr>
                      <a:r>
                        <a:rPr lang="en-IN" sz="1200" dirty="0">
                          <a:latin typeface="Times New Roman"/>
                          <a:ea typeface="Calibri"/>
                          <a:cs typeface="Times New Roman"/>
                        </a:rPr>
                        <a:t>5</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Initialisation of all </a:t>
                      </a:r>
                      <a:r>
                        <a:rPr lang="en-IN" sz="1200" dirty="0" smtClean="0">
                          <a:latin typeface="Times New Roman"/>
                          <a:ea typeface="Calibri"/>
                          <a:cs typeface="Times New Roman"/>
                        </a:rPr>
                        <a:t>java</a:t>
                      </a:r>
                      <a:r>
                        <a:rPr lang="en-IN" sz="1200" baseline="0" dirty="0" smtClean="0">
                          <a:latin typeface="Times New Roman"/>
                          <a:ea typeface="Calibri"/>
                          <a:cs typeface="Times New Roman"/>
                        </a:rPr>
                        <a:t> script</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smtClean="0">
                          <a:latin typeface="Times New Roman"/>
                          <a:ea typeface="Calibri"/>
                          <a:cs typeface="Times New Roman"/>
                        </a:rPr>
                        <a:t>2-3</a:t>
                      </a:r>
                      <a:r>
                        <a:rPr lang="en-IN" sz="1200" baseline="0" dirty="0" smtClean="0">
                          <a:latin typeface="Times New Roman"/>
                          <a:ea typeface="Calibri"/>
                          <a:cs typeface="Times New Roman"/>
                        </a:rPr>
                        <a:t> days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The resources of </a:t>
                      </a:r>
                      <a:r>
                        <a:rPr lang="en-IN" sz="1100" dirty="0" smtClean="0">
                          <a:latin typeface="Calibri"/>
                          <a:ea typeface="Calibri"/>
                          <a:cs typeface="Times New Roman"/>
                        </a:rPr>
                        <a:t>the</a:t>
                      </a:r>
                      <a:r>
                        <a:rPr lang="en-IN" sz="1100" baseline="0" dirty="0" smtClean="0">
                          <a:latin typeface="Calibri"/>
                          <a:ea typeface="Calibri"/>
                          <a:cs typeface="Times New Roman"/>
                        </a:rPr>
                        <a:t> </a:t>
                      </a:r>
                      <a:r>
                        <a:rPr lang="en-IN" sz="1100" baseline="0" dirty="0" err="1" smtClean="0">
                          <a:latin typeface="Calibri"/>
                          <a:ea typeface="Calibri"/>
                          <a:cs typeface="Times New Roman"/>
                        </a:rPr>
                        <a:t>cineverse</a:t>
                      </a:r>
                      <a:r>
                        <a:rPr lang="en-IN" sz="1100" baseline="0" dirty="0" smtClean="0">
                          <a:latin typeface="Calibri"/>
                          <a:ea typeface="Calibri"/>
                          <a:cs typeface="Times New Roman"/>
                        </a:rPr>
                        <a:t> </a:t>
                      </a:r>
                      <a:r>
                        <a:rPr lang="en-IN" sz="1100" dirty="0" smtClean="0">
                          <a:latin typeface="Calibri"/>
                          <a:ea typeface="Calibri"/>
                          <a:cs typeface="Times New Roman"/>
                        </a:rPr>
                        <a:t>will </a:t>
                      </a:r>
                      <a:r>
                        <a:rPr lang="en-IN" sz="1100" dirty="0">
                          <a:latin typeface="Calibri"/>
                          <a:ea typeface="Calibri"/>
                          <a:cs typeface="Times New Roman"/>
                        </a:rPr>
                        <a:t>start to</a:t>
                      </a:r>
                      <a:r>
                        <a:rPr lang="en-IN" sz="1100" baseline="0" dirty="0">
                          <a:latin typeface="Calibri"/>
                          <a:ea typeface="Calibri"/>
                          <a:cs typeface="Times New Roman"/>
                        </a:rPr>
                        <a:t> call the functions </a:t>
                      </a:r>
                      <a:r>
                        <a:rPr lang="en-IN" sz="1100" dirty="0">
                          <a:latin typeface="Calibri"/>
                          <a:ea typeface="Calibri"/>
                          <a:cs typeface="Times New Roman"/>
                        </a:rPr>
                        <a:t>as per the code.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Tree>
    <p:extLst>
      <p:ext uri="{BB962C8B-B14F-4D97-AF65-F5344CB8AC3E}">
        <p14:creationId xmlns="" xmlns:p14="http://schemas.microsoft.com/office/powerpoint/2010/main" val="2762259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747464"/>
            <a:ext cx="7886700" cy="2438153"/>
          </a:xfrm>
        </p:spPr>
        <p:txBody>
          <a:bodyPr/>
          <a:lstStyle/>
          <a:p>
            <a:r>
              <a:rPr lang="en-US" b="1" dirty="0"/>
              <a:t>Expected Outcomes</a:t>
            </a:r>
            <a:endParaRPr lang="en-GB" b="1" dirty="0"/>
          </a:p>
        </p:txBody>
      </p:sp>
      <p:sp>
        <p:nvSpPr>
          <p:cNvPr id="3" name="Content Placeholder 2"/>
          <p:cNvSpPr>
            <a:spLocks noGrp="1"/>
          </p:cNvSpPr>
          <p:nvPr>
            <p:ph idx="1"/>
          </p:nvPr>
        </p:nvSpPr>
        <p:spPr>
          <a:xfrm>
            <a:off x="628650" y="1052736"/>
            <a:ext cx="7886700" cy="5124227"/>
          </a:xfrm>
        </p:spPr>
        <p:txBody>
          <a:bodyPr>
            <a:normAutofit fontScale="70000" lnSpcReduction="20000"/>
          </a:bodyPr>
          <a:lstStyle/>
          <a:p>
            <a:r>
              <a:rPr lang="en-US" sz="2400" dirty="0" smtClean="0"/>
              <a:t>The expected outcomes for a movie rating website can vary depending on its goals, target audience, and features. Here are some potential outcomes and benefits:    User Engagement:        Increased user engagement through the submission of movie reviews, ratings, and comments.        Active participation in forums and discussions related to movies and entertainment.    User Retention:        Higher user retention as visitors return to the website to discover new movies, read reviews, and engage with the community.    Community Building:        Formation of a vibrant and active community of movie enthusiasts who share common interests, discuss films, and exchange recommendations.    Informed Decision-Making:        Users make more informed decisions about which movies to watch based on ratings, reviews, and personalized recommendations.    Increased Visibility for Films:        Positive impact on the visibility and success of films, especially if they receive high ratings and positive reviews on the platform.    Marketing and Promotion:        Potential for increased marketing and promotional opportunities for movies as filmmakers and studios leverage positive user reviews and ratings.    Data Insights:        Generation of valuable data insights, such as trending genres, popular actors, and audience preferences. This data can be valuable for industry professionals and filmmakers.    Monetization Opportunities:        Revenue generation through monetization strategies such as premium memberships, advertising, or partnerships with streaming services.    User Loyalty:        Development of user loyalty as individuals find the platform valuable for discovering, reviewing, and discussing movies.    Educational Resource:        Establishment of the website as a go-to educational resource for film history, genres, and industry insights.    Positive Impact on Filmmaking:        Positive feedback and constructive criticism provided by users can have a meaningful impact on the filmmaking process, helping creators understand audience expectations and preferences</a:t>
            </a:r>
            <a:r>
              <a:rPr lang="en-US" sz="2400" dirty="0" smtClean="0"/>
              <a:t>..</a:t>
            </a:r>
            <a:endParaRPr lang="en-GB" sz="2400" dirty="0"/>
          </a:p>
        </p:txBody>
      </p:sp>
    </p:spTree>
    <p:extLst>
      <p:ext uri="{BB962C8B-B14F-4D97-AF65-F5344CB8AC3E}">
        <p14:creationId xmlns="" xmlns:p14="http://schemas.microsoft.com/office/powerpoint/2010/main" val="1499061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15416"/>
            <a:ext cx="7886700" cy="1829619"/>
          </a:xfrm>
        </p:spPr>
        <p:txBody>
          <a:bodyPr/>
          <a:lstStyle/>
          <a:p>
            <a:r>
              <a:rPr lang="en-US" b="1" dirty="0"/>
              <a:t>Applications</a:t>
            </a:r>
            <a:endParaRPr lang="en-GB" b="1" dirty="0"/>
          </a:p>
        </p:txBody>
      </p:sp>
      <p:sp>
        <p:nvSpPr>
          <p:cNvPr id="3" name="Content Placeholder 2"/>
          <p:cNvSpPr>
            <a:spLocks noGrp="1"/>
          </p:cNvSpPr>
          <p:nvPr>
            <p:ph idx="1"/>
          </p:nvPr>
        </p:nvSpPr>
        <p:spPr>
          <a:xfrm>
            <a:off x="628650" y="1196752"/>
            <a:ext cx="7886700" cy="4980211"/>
          </a:xfrm>
        </p:spPr>
        <p:txBody>
          <a:bodyPr>
            <a:noAutofit/>
          </a:bodyPr>
          <a:lstStyle/>
          <a:p>
            <a:r>
              <a:rPr lang="en-US" sz="1600" dirty="0" smtClean="0"/>
              <a:t>A movie rating website can have various applications and benefits for different user groups. Here are some common applications:    User Reviews and Recommendations:        Users can read and provide reviews for movies they've watched, helping others make informed decisions about what to watch next. The website may also offer personalized recommendations based on users' ratings and preferences.    Film Industry Insights:        Filmmakers, producers, and studios can use the website to gauge audience reactions to their films. They can gather feedback, analyze ratings, and identify trends to improve future projects.    Marketing and Promotion:        Movie rating websites provide a platform for marketing and promotion. Positive reviews and high ratings can attract more viewers to a film, contributing to its success.    Viewer Engagement:        Movie rating websites often include features like forums, comments, and user discussions. This fosters a sense of community among movie enthusiasts, encouraging engagement and interaction.    Decision Support for Viewers:        Viewers can use the website to make decisions about what movies to watch. They can explore ratings, read reviews, and discover new releases or classic films they might enjoy.    Social Sharing:        Users can share their movie ratings, reviews, and </a:t>
            </a:r>
            <a:r>
              <a:rPr lang="en-US" sz="1600" dirty="0" err="1" smtClean="0"/>
              <a:t>watchlists</a:t>
            </a:r>
            <a:r>
              <a:rPr lang="en-US" sz="1600" dirty="0" smtClean="0"/>
              <a:t> on social media, creating a viral effect that can increase the visibility of certain films.    </a:t>
            </a:r>
            <a:endParaRPr lang="en-GB" sz="1600" dirty="0"/>
          </a:p>
        </p:txBody>
      </p:sp>
    </p:spTree>
    <p:extLst>
      <p:ext uri="{BB962C8B-B14F-4D97-AF65-F5344CB8AC3E}">
        <p14:creationId xmlns="" xmlns:p14="http://schemas.microsoft.com/office/powerpoint/2010/main" val="510431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 </a:t>
            </a:r>
          </a:p>
        </p:txBody>
      </p:sp>
      <p:sp>
        <p:nvSpPr>
          <p:cNvPr id="3" name="Content Placeholder 2"/>
          <p:cNvSpPr>
            <a:spLocks noGrp="1"/>
          </p:cNvSpPr>
          <p:nvPr>
            <p:ph idx="1"/>
          </p:nvPr>
        </p:nvSpPr>
        <p:spPr/>
        <p:txBody>
          <a:bodyPr>
            <a:normAutofit/>
          </a:bodyPr>
          <a:lstStyle/>
          <a:p>
            <a:r>
              <a:rPr lang="en-US" sz="2000" dirty="0" smtClean="0"/>
              <a:t>A conclusion about movie rating websites might summarize their impact and significance:"In conclusion, movie rating websites have revolutionized the way audiences engage with films. These platforms empower users to share opinions, discover new content, and shape the perception of movies. However, challenges persist, including issues surrounding credibility, algorithmic biases, and the ever-evolving nature of user preferences. Moving forward, addressing these challenges will be crucial in maintaining the integrity and trustworthiness of these platforms. As technology advances and audience behaviors shift, continued research and innovation in the realms of user experience, credibility enhancement, and industry adaptation will be vital for ensuring that movie rating websites remain invaluable resources, serving as both a reflection of audience sentiments and influential players in the cinematic landscape."</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References</a:t>
            </a:r>
          </a:p>
        </p:txBody>
      </p:sp>
      <p:sp>
        <p:nvSpPr>
          <p:cNvPr id="3" name="Content Placeholder 2"/>
          <p:cNvSpPr>
            <a:spLocks noGrp="1"/>
          </p:cNvSpPr>
          <p:nvPr>
            <p:ph idx="1"/>
          </p:nvPr>
        </p:nvSpPr>
        <p:spPr/>
        <p:txBody>
          <a:bodyPr>
            <a:noAutofit/>
          </a:bodyPr>
          <a:lstStyle/>
          <a:p>
            <a:r>
              <a:rPr lang="en-US" sz="2400" dirty="0" err="1" smtClean="0"/>
              <a:t>IMDb</a:t>
            </a:r>
            <a:r>
              <a:rPr lang="en-US" sz="2400" dirty="0" smtClean="0"/>
              <a:t> is an extensive online database of information related to films, television programs, actors, and more. Users can find details about movies, TV shows, and celebrities, including cast and crew information, user reviews, and ratings. The site's rating system aggregates scores from both critics and users, providing a comprehensive overview of a movie's reception. </a:t>
            </a:r>
            <a:r>
              <a:rPr lang="en-US" sz="2400" dirty="0" err="1" smtClean="0"/>
              <a:t>IMDb</a:t>
            </a:r>
            <a:r>
              <a:rPr lang="en-US" sz="2400" dirty="0" smtClean="0"/>
              <a:t> is widely used for researching and discovering information about a vast array of films and TV series.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1564</TotalTime>
  <Words>2644</Words>
  <Application>Microsoft Office PowerPoint</Application>
  <PresentationFormat>On-screen Show (4:3)</PresentationFormat>
  <Paragraphs>101</Paragraphs>
  <Slides>15</Slides>
  <Notes>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   ORIENTAL COLLEGE OF TECHNOLOGY BHOPAL (M.P.) </vt:lpstr>
      <vt:lpstr>Contents</vt:lpstr>
      <vt:lpstr>Introduction</vt:lpstr>
      <vt:lpstr>Literature Review</vt:lpstr>
      <vt:lpstr>Template for Literature Review</vt:lpstr>
      <vt:lpstr>Slide 6</vt:lpstr>
      <vt:lpstr>Slide 7</vt:lpstr>
      <vt:lpstr>Slide 8</vt:lpstr>
      <vt:lpstr> Objective  </vt:lpstr>
      <vt:lpstr>TECHNOLOGY USED</vt:lpstr>
      <vt:lpstr>Work Plan  </vt:lpstr>
      <vt:lpstr>Expected Outcomes</vt:lpstr>
      <vt:lpstr>Applications</vt:lpstr>
      <vt:lpstr>Conclusion </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NRI Institute of Information Science &amp; Technology Bhopal (M.P.)</dc:title>
  <dc:creator>Toshiba</dc:creator>
  <cp:lastModifiedBy>Vivek Waryani</cp:lastModifiedBy>
  <cp:revision>67</cp:revision>
  <dcterms:created xsi:type="dcterms:W3CDTF">2013-01-10T05:52:29Z</dcterms:created>
  <dcterms:modified xsi:type="dcterms:W3CDTF">2023-11-30T13:30:19Z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2023-11-24T18:05:43Z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6dade7f0-4cf2-45bd-ad9e-9ac733d19f9e</vt:lpwstr>
  </property>
  <property fmtid="{D5CDD505-2E9C-101B-9397-08002B2CF9AE}" pid="7" name="MSIP_Label_defa4170-0d19-0005-0004-bc88714345d2_ActionId">
    <vt:lpwstr>9c609240-79a8-45d4-9b31-f39a5c177077</vt:lpwstr>
  </property>
  <property fmtid="{D5CDD505-2E9C-101B-9397-08002B2CF9AE}" pid="8" name="MSIP_Label_defa4170-0d19-0005-0004-bc88714345d2_ContentBits">
    <vt:lpwstr>0</vt:lpwstr>
  </property>
</Properties>
</file>